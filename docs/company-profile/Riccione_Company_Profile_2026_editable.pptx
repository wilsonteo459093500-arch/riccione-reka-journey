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97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 p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"/>
            <a:ext cx="12191970" cy="685798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34186" y="418979"/>
            <a:ext cx="5710881" cy="316195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marL="0" indent="0" algn="l">
              <a:lnSpc>
                <a:spcPts val="1660"/>
              </a:lnSpc>
              <a:spcBef>
                <a:spcPts val="0"/>
              </a:spcBef>
              <a:spcAft>
                <a:spcPts val="0"/>
              </a:spcAft>
            </a:pPr>
            <a:r>
              <a:rPr sz="1383" b="0" spc="-7">
                <a:solidFill>
                  <a:srgbClr val="463E41"/>
                </a:solidFill>
                <a:latin typeface="Source Han Sans CN Normal"/>
                <a:cs typeface="Source Han Sans CN Normal"/>
                <a:ea typeface="Source Han Sans CN Normal"/>
              </a:rPr>
              <a:t>马来西亚瑞吉欧企业手册         Riccione Malaysia Company Profile</a:t>
            </a:r>
            <a:endParaRPr sz="1383" b="0" spc="-7">
              <a:solidFill>
                <a:srgbClr val="463E41"/>
              </a:solidFill>
              <a:latin typeface="Source Han Sans CN Normal"/>
              <a:cs typeface="Source Han Sans CN Normal"/>
              <a:ea typeface="Source Han Sans CN Norm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 p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"/>
            <a:ext cx="12191970" cy="685798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55819" y="282037"/>
            <a:ext cx="1542018" cy="205739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marL="0" indent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0" spc="-10">
                <a:solidFill>
                  <a:srgbClr val="463E41"/>
                </a:solidFill>
                <a:latin typeface="Source Han Sans CN Light"/>
                <a:cs typeface="Source Han Sans CN Light"/>
                <a:ea typeface="Source Han Sans CN Light"/>
              </a:rPr>
              <a:t>About Riccione 关于瑞吉欧</a:t>
            </a:r>
            <a:endParaRPr sz="900" b="0" spc="-10">
              <a:solidFill>
                <a:srgbClr val="463E41"/>
              </a:solidFill>
              <a:latin typeface="Source Han Sans CN Light"/>
              <a:cs typeface="Source Han Sans CN Light"/>
              <a:ea typeface="Source Han Sans CN Light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417401" y="1307203"/>
            <a:ext cx="1190622" cy="285749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463E41"/>
                </a:solidFill>
                <a:latin typeface="youyou-yisong"/>
                <a:cs typeface="youyou-yisong"/>
                <a:ea typeface="youyou-yisong"/>
              </a:rPr>
              <a:t>瑞吉欧的由来</a:t>
            </a:r>
            <a:endParaRPr sz="1250" b="0">
              <a:solidFill>
                <a:srgbClr val="463E41"/>
              </a:solidFill>
              <a:latin typeface="youyou-yisong"/>
              <a:cs typeface="youyou-yisong"/>
              <a:ea typeface="youyou-yisong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420720" y="2598771"/>
            <a:ext cx="3395440" cy="396316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marL="0" indent="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63E41"/>
                </a:solidFill>
                <a:latin typeface="Source Han Sans CN Normal"/>
                <a:cs typeface="Source Han Sans CN Normal"/>
                <a:ea typeface="Source Han Sans CN Normal"/>
              </a:rPr>
              <a:t xml:space="preserve">Inspired by RICCIONE — a coastal town in Italy known for its relaxed pace, </a:t>
            </a:r>
            <a:endParaRPr sz="700" b="0">
              <a:solidFill>
                <a:srgbClr val="463E41"/>
              </a:solidFill>
              <a:latin typeface="Source Han Sans CN Normal"/>
              <a:cs typeface="Source Han Sans CN Normal"/>
              <a:ea typeface="Source Han Sans CN Normal"/>
            </a:endParaRPr>
          </a:p>
          <a:p>
            <a:pPr marL="0" indent="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63E41"/>
                </a:solidFill>
                <a:latin typeface="Source Han Sans CN Normal"/>
                <a:cs typeface="Source Han Sans CN Normal"/>
                <a:ea typeface="Source Han Sans CN Normal"/>
              </a:rPr>
              <a:t xml:space="preserve">warm atmosphere, and connection to nature — RICCIONE embraces a </a:t>
            </a:r>
            <a:endParaRPr sz="700" b="0">
              <a:solidFill>
                <a:srgbClr val="463E41"/>
              </a:solidFill>
              <a:latin typeface="Source Han Sans CN Normal"/>
              <a:cs typeface="Source Han Sans CN Normal"/>
              <a:ea typeface="Source Han Sans CN Normal"/>
            </a:endParaRPr>
          </a:p>
          <a:p>
            <a:pPr marL="0" indent="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-15">
                <a:solidFill>
                  <a:srgbClr val="463E41"/>
                </a:solidFill>
                <a:latin typeface="Source Han Sans CN Normal"/>
                <a:cs typeface="Source Han Sans CN Normal"/>
                <a:ea typeface="Source Han Sans CN Normal"/>
              </a:rPr>
              <a:t>way of living that is slower, softer, and naturally beautiful.</a:t>
            </a:r>
            <a:endParaRPr sz="700" b="0" spc="-15">
              <a:solidFill>
                <a:srgbClr val="463E41"/>
              </a:solidFill>
              <a:latin typeface="Source Han Sans CN Normal"/>
              <a:cs typeface="Source Han Sans CN Normal"/>
              <a:ea typeface="Source Han Sans CN Normal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420720" y="3055983"/>
            <a:ext cx="3395440" cy="510641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marL="0" indent="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-6">
                <a:solidFill>
                  <a:srgbClr val="463E41"/>
                </a:solidFill>
                <a:latin typeface="Source Han Sans CN Normal"/>
                <a:cs typeface="Source Han Sans CN Normal"/>
                <a:ea typeface="Source Han Sans CN Normal"/>
              </a:rPr>
              <a:t xml:space="preserve">With over </a:t>
            </a:r>
            <a:r>
              <a:rPr sz="700" b="0" spc="-11">
                <a:solidFill>
                  <a:srgbClr val="463E41"/>
                </a:solidFill>
                <a:latin typeface="Source Han Sans CN Normal"/>
                <a:cs typeface="Source Han Sans CN Normal"/>
                <a:ea typeface="Source Han Sans CN Normal"/>
              </a:rPr>
              <a:t xml:space="preserve">45 years of craftsmanship, RICCIONE creates furniture that </a:t>
            </a:r>
            <a:endParaRPr sz="700" b="0" spc="-11">
              <a:solidFill>
                <a:srgbClr val="463E41"/>
              </a:solidFill>
              <a:latin typeface="Source Han Sans CN Normal"/>
              <a:cs typeface="Source Han Sans CN Normal"/>
              <a:ea typeface="Source Han Sans CN Normal"/>
            </a:endParaRPr>
          </a:p>
          <a:p>
            <a:pPr marL="0" indent="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-10">
                <a:solidFill>
                  <a:srgbClr val="463E41"/>
                </a:solidFill>
                <a:latin typeface="Source Han Sans CN Normal"/>
                <a:cs typeface="Source Han Sans CN Normal"/>
                <a:ea typeface="Source Han Sans CN Normal"/>
              </a:rPr>
              <a:t xml:space="preserve">brings life back to what truly matters — where comfort meets </a:t>
            </a:r>
            <a:endParaRPr sz="700" b="0" spc="-10">
              <a:solidFill>
                <a:srgbClr val="463E41"/>
              </a:solidFill>
              <a:latin typeface="Source Han Sans CN Normal"/>
              <a:cs typeface="Source Han Sans CN Normal"/>
              <a:ea typeface="Source Han Sans CN Normal"/>
            </a:endParaRPr>
          </a:p>
          <a:p>
            <a:pPr marL="0" indent="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3">
                <a:solidFill>
                  <a:srgbClr val="463E41"/>
                </a:solidFill>
                <a:latin typeface="Source Han Sans CN Normal"/>
                <a:cs typeface="Source Han Sans CN Normal"/>
                <a:ea typeface="Source Han Sans CN Normal"/>
              </a:rPr>
              <a:t xml:space="preserve">authenticity, and spaces are shaped with calm, warmth, and a sense of </a:t>
            </a:r>
            <a:endParaRPr sz="700" b="0" spc="3">
              <a:solidFill>
                <a:srgbClr val="463E41"/>
              </a:solidFill>
              <a:latin typeface="Source Han Sans CN Normal"/>
              <a:cs typeface="Source Han Sans CN Normal"/>
              <a:ea typeface="Source Han Sans CN Normal"/>
            </a:endParaRPr>
          </a:p>
          <a:p>
            <a:pPr marL="0" indent="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0">
                <a:solidFill>
                  <a:srgbClr val="463E41"/>
                </a:solidFill>
                <a:latin typeface="Source Han Sans CN Normal"/>
                <a:cs typeface="Source Han Sans CN Normal"/>
                <a:ea typeface="Source Han Sans CN Normal"/>
              </a:rPr>
              <a:t>ease.</a:t>
            </a:r>
            <a:endParaRPr sz="700" b="0" spc="10">
              <a:solidFill>
                <a:srgbClr val="463E41"/>
              </a:solidFill>
              <a:latin typeface="Source Han Sans CN Normal"/>
              <a:cs typeface="Source Han Sans CN Normal"/>
              <a:ea typeface="Source Han Sans CN Norm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420720" y="3627521"/>
            <a:ext cx="3395430" cy="281990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marL="0" indent="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3">
                <a:solidFill>
                  <a:srgbClr val="463E41"/>
                </a:solidFill>
                <a:latin typeface="Source Han Sans CN Normal"/>
                <a:cs typeface="Source Han Sans CN Normal"/>
                <a:ea typeface="Source Han Sans CN Normal"/>
              </a:rPr>
              <a:t xml:space="preserve">Through natural materials, honest design, and timeless aesthetics, each </a:t>
            </a:r>
            <a:endParaRPr sz="700" b="0" spc="3">
              <a:solidFill>
                <a:srgbClr val="463E41"/>
              </a:solidFill>
              <a:latin typeface="Source Han Sans CN Normal"/>
              <a:cs typeface="Source Han Sans CN Normal"/>
              <a:ea typeface="Source Han Sans CN Normal"/>
            </a:endParaRPr>
          </a:p>
          <a:p>
            <a:pPr marL="0" indent="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-15">
                <a:solidFill>
                  <a:srgbClr val="463E41"/>
                </a:solidFill>
                <a:latin typeface="Source Han Sans CN Normal"/>
                <a:cs typeface="Source Han Sans CN Normal"/>
                <a:ea typeface="Source Han Sans CN Normal"/>
              </a:rPr>
              <a:t>piece is made for a life well-lived.</a:t>
            </a:r>
            <a:endParaRPr sz="700" b="0" spc="-15">
              <a:solidFill>
                <a:srgbClr val="463E41"/>
              </a:solidFill>
              <a:latin typeface="Source Han Sans CN Normal"/>
              <a:cs typeface="Source Han Sans CN Normal"/>
              <a:ea typeface="Source Han Sans CN Norm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395847" y="4392185"/>
            <a:ext cx="3403033" cy="219747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marL="0" indent="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</a:pPr>
            <a:r>
              <a:rPr sz="550" b="0" spc="5">
                <a:solidFill>
                  <a:srgbClr val="463E41"/>
                </a:solidFill>
                <a:latin typeface="Source Han Sans CN Normal"/>
                <a:cs typeface="Source Han Sans CN Normal"/>
                <a:ea typeface="Source Han Sans CN Normal"/>
              </a:rPr>
              <a:t>灵感源自 RICCIONE ⸺ 这座位于意大利的海滨小镇，以其悠闲 的节奏、温暖的氛围与亲近自然的生</a:t>
            </a:r>
            <a:endParaRPr sz="550" b="0" spc="5">
              <a:solidFill>
                <a:srgbClr val="463E41"/>
              </a:solidFill>
              <a:latin typeface="Source Han Sans CN Normal"/>
              <a:cs typeface="Source Han Sans CN Normal"/>
              <a:ea typeface="Source Han Sans CN Normal"/>
            </a:endParaRPr>
          </a:p>
          <a:p>
            <a:pPr marL="0" indent="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</a:pPr>
            <a:r>
              <a:rPr sz="550" b="0" spc="6">
                <a:solidFill>
                  <a:srgbClr val="463E41"/>
                </a:solidFill>
                <a:latin typeface="Source Han Sans CN Normal"/>
                <a:cs typeface="Source Han Sans CN Normal"/>
                <a:ea typeface="Source Han Sans CN Normal"/>
              </a:rPr>
              <a:t>活方式而著称。</a:t>
            </a:r>
            <a:endParaRPr sz="550" b="0" spc="6">
              <a:solidFill>
                <a:srgbClr val="463E41"/>
              </a:solidFill>
              <a:latin typeface="Source Han Sans CN Normal"/>
              <a:cs typeface="Source Han Sans CN Normal"/>
              <a:ea typeface="Source Han Sans CN Normal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395847" y="4658871"/>
            <a:ext cx="3404145" cy="308666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marL="0" indent="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</a:pPr>
            <a:r>
              <a:rPr sz="550" b="0" spc="5">
                <a:solidFill>
                  <a:srgbClr val="463E41"/>
                </a:solidFill>
                <a:latin typeface="Source Han Sans CN Normal"/>
                <a:cs typeface="Source Han Sans CN Normal"/>
                <a:ea typeface="Source Han Sans CN Normal"/>
              </a:rPr>
              <a:t>RICCIONE 所呈现的，是一种更慢、更柔和、也更自然的生活状态。 承载</a:t>
            </a:r>
            <a:r>
              <a:rPr sz="550" b="0" spc="-10">
                <a:solidFill>
                  <a:srgbClr val="463E41"/>
                </a:solidFill>
                <a:latin typeface="Source Han Sans CN Normal"/>
                <a:cs typeface="Source Han Sans CN Normal"/>
                <a:ea typeface="Source Han Sans CN Normal"/>
              </a:rPr>
              <a:t>45年的匠心积累，RICCIONE专</a:t>
            </a:r>
            <a:endParaRPr sz="550" b="0" spc="-10">
              <a:solidFill>
                <a:srgbClr val="463E41"/>
              </a:solidFill>
              <a:latin typeface="Source Han Sans CN Normal"/>
              <a:cs typeface="Source Han Sans CN Normal"/>
              <a:ea typeface="Source Han Sans CN Normal"/>
            </a:endParaRPr>
          </a:p>
          <a:p>
            <a:pPr marL="0" indent="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</a:pPr>
            <a:r>
              <a:rPr sz="550" b="0" spc="18">
                <a:solidFill>
                  <a:srgbClr val="463E41"/>
                </a:solidFill>
                <a:latin typeface="Source Han Sans CN Normal"/>
                <a:cs typeface="Source Han Sans CN Normal"/>
                <a:ea typeface="Source Han Sans CN Normal"/>
              </a:rPr>
              <a:t>注于打造回归生活本质的家具⸺在这里，舒适与真实相遇，空间在安静、温润与恰到好处的松弛中</a:t>
            </a:r>
            <a:endParaRPr sz="550" b="0" spc="18">
              <a:solidFill>
                <a:srgbClr val="463E41"/>
              </a:solidFill>
              <a:latin typeface="Source Han Sans CN Normal"/>
              <a:cs typeface="Source Han Sans CN Normal"/>
              <a:ea typeface="Source Han Sans CN Normal"/>
            </a:endParaRPr>
          </a:p>
          <a:p>
            <a:pPr marL="0" indent="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</a:pPr>
            <a:r>
              <a:rPr sz="550" b="0" spc="6">
                <a:solidFill>
                  <a:srgbClr val="463E41"/>
                </a:solidFill>
                <a:latin typeface="Source Han Sans CN Normal"/>
                <a:cs typeface="Source Han Sans CN Normal"/>
                <a:ea typeface="Source Han Sans CN Normal"/>
              </a:rPr>
              <a:t>被塑造。</a:t>
            </a:r>
            <a:endParaRPr sz="550" b="0" spc="6">
              <a:solidFill>
                <a:srgbClr val="463E41"/>
              </a:solidFill>
              <a:latin typeface="Source Han Sans CN Normal"/>
              <a:cs typeface="Source Han Sans CN Normal"/>
              <a:ea typeface="Source Han Sans CN Normal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395847" y="5019576"/>
            <a:ext cx="2964285" cy="125730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marL="0" indent="0" algn="l">
              <a:lnSpc>
                <a:spcPts val="660"/>
              </a:lnSpc>
              <a:spcBef>
                <a:spcPts val="0"/>
              </a:spcBef>
              <a:spcAft>
                <a:spcPts val="0"/>
              </a:spcAft>
            </a:pPr>
            <a:r>
              <a:rPr sz="550" b="0" spc="5">
                <a:solidFill>
                  <a:srgbClr val="463E41"/>
                </a:solidFill>
                <a:latin typeface="Source Han Sans CN Normal"/>
                <a:cs typeface="Source Han Sans CN Normal"/>
                <a:ea typeface="Source Han Sans CN Normal"/>
              </a:rPr>
              <a:t>以自然材质、真实设计与历久弥新的美学为核心，每一件作品，都是为美好生活而存在。</a:t>
            </a:r>
            <a:endParaRPr sz="550" b="0" spc="5">
              <a:solidFill>
                <a:srgbClr val="463E41"/>
              </a:solidFill>
              <a:latin typeface="Source Han Sans CN Normal"/>
              <a:cs typeface="Source Han Sans CN Normal"/>
              <a:ea typeface="Source Han Sans CN Norm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10087" y="6596067"/>
            <a:ext cx="285749" cy="205739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marL="0" indent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63E41"/>
                </a:solidFill>
                <a:latin typeface="PingFangSC"/>
                <a:cs typeface="PingFangSC"/>
                <a:ea typeface="PingFangSC"/>
              </a:rPr>
              <a:t>03</a:t>
            </a:r>
            <a:endParaRPr sz="900" b="0">
              <a:solidFill>
                <a:srgbClr val="463E41"/>
              </a:solidFill>
              <a:latin typeface="PingFangSC"/>
              <a:cs typeface="PingFangSC"/>
              <a:ea typeface="PingFangS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 p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"/>
            <a:ext cx="12191970" cy="685798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55819" y="282037"/>
            <a:ext cx="1399486" cy="205739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marL="0" indent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63E41"/>
                </a:solidFill>
                <a:latin typeface="Source Han Sans CN Light"/>
                <a:cs typeface="Source Han Sans CN Light"/>
                <a:ea typeface="Source Han Sans CN Light"/>
              </a:rPr>
              <a:t>Core Business  核心业务</a:t>
            </a:r>
            <a:endParaRPr sz="900" b="0">
              <a:solidFill>
                <a:srgbClr val="463E41"/>
              </a:solidFill>
              <a:latin typeface="Source Han Sans CN Light"/>
              <a:cs typeface="Source Han Sans CN Light"/>
              <a:ea typeface="Source Han Sans CN Light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503293" y="3763911"/>
            <a:ext cx="1185383" cy="285749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marL="0" indent="0"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463E41"/>
                </a:solidFill>
                <a:latin typeface="youyou-yisong"/>
                <a:cs typeface="youyou-yisong"/>
                <a:ea typeface="youyou-yisong"/>
              </a:rPr>
              <a:t>业务核心板块</a:t>
            </a:r>
            <a:endParaRPr sz="1250" b="0">
              <a:solidFill>
                <a:srgbClr val="463E41"/>
              </a:solidFill>
              <a:latin typeface="youyou-yisong"/>
              <a:cs typeface="youyou-yisong"/>
              <a:ea typeface="youyou-yisong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222146" y="4049158"/>
            <a:ext cx="1164141" cy="307416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marL="0" indent="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63E41"/>
                </a:solidFill>
                <a:latin typeface="Source Han Sans CN Normal"/>
                <a:cs typeface="Source Han Sans CN Normal"/>
                <a:ea typeface="Source Han Sans CN Normal"/>
              </a:rPr>
              <a:t xml:space="preserve">Whole-House </a:t>
            </a:r>
            <a:endParaRPr sz="700" b="0">
              <a:solidFill>
                <a:srgbClr val="463E41"/>
              </a:solidFill>
              <a:latin typeface="Source Han Sans CN Normal"/>
              <a:cs typeface="Source Han Sans CN Normal"/>
              <a:ea typeface="Source Han Sans CN Normal"/>
            </a:endParaRPr>
          </a:p>
          <a:p>
            <a:pPr marL="0" indent="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2">
                <a:solidFill>
                  <a:srgbClr val="463E41"/>
                </a:solidFill>
                <a:latin typeface="Source Han Sans CN Normal"/>
                <a:cs typeface="Source Han Sans CN Normal"/>
                <a:ea typeface="Source Han Sans CN Normal"/>
              </a:rPr>
              <a:t>Customization Cabinetry</a:t>
            </a:r>
            <a:endParaRPr sz="700" b="0" spc="2">
              <a:solidFill>
                <a:srgbClr val="463E41"/>
              </a:solidFill>
              <a:latin typeface="Source Han Sans CN Normal"/>
              <a:cs typeface="Source Han Sans CN Normal"/>
              <a:ea typeface="Source Han Sans CN Normal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050289" y="4075524"/>
            <a:ext cx="1292290" cy="160020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marL="0" indent="0" algn="l">
              <a:lnSpc>
                <a:spcPts val="84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-16">
                <a:solidFill>
                  <a:srgbClr val="463E41"/>
                </a:solidFill>
                <a:latin typeface="Source Han Sans CN Normal"/>
                <a:cs typeface="Source Han Sans CN Normal"/>
                <a:ea typeface="Source Han Sans CN Normal"/>
              </a:rPr>
              <a:t>Solid Wood Loose Furniture</a:t>
            </a:r>
            <a:endParaRPr sz="700" b="0" spc="-16">
              <a:solidFill>
                <a:srgbClr val="463E41"/>
              </a:solidFill>
              <a:latin typeface="Source Han Sans CN Normal"/>
              <a:cs typeface="Source Han Sans CN Normal"/>
              <a:ea typeface="Source Han Sans CN Norm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050289" y="4214106"/>
            <a:ext cx="575308" cy="137160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marL="0" indent="0" algn="l">
              <a:lnSpc>
                <a:spcPts val="72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6">
                <a:solidFill>
                  <a:srgbClr val="463E41"/>
                </a:solidFill>
                <a:latin typeface="Source Han Sans CN Normal"/>
                <a:cs typeface="Source Han Sans CN Normal"/>
                <a:ea typeface="Source Han Sans CN Normal"/>
              </a:rPr>
              <a:t>实木成品家具</a:t>
            </a:r>
            <a:endParaRPr sz="600" b="0" spc="6">
              <a:solidFill>
                <a:srgbClr val="463E41"/>
              </a:solidFill>
              <a:latin typeface="Source Han Sans CN Normal"/>
              <a:cs typeface="Source Han Sans CN Normal"/>
              <a:ea typeface="Source Han Sans CN Norm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528015" y="3988745"/>
            <a:ext cx="3135939" cy="571499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marL="0" indent="0" algn="ctr">
              <a:lnSpc>
                <a:spcPts val="3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spc="50">
                <a:solidFill>
                  <a:srgbClr val="100A0B"/>
                </a:solidFill>
                <a:latin typeface="Sabon LT Std"/>
                <a:cs typeface="Sabon LT Std"/>
                <a:ea typeface="Sabon LT Std"/>
              </a:rPr>
              <a:t>The Core Business</a:t>
            </a:r>
            <a:endParaRPr sz="2500" b="1" spc="50">
              <a:solidFill>
                <a:srgbClr val="100A0B"/>
              </a:solidFill>
              <a:latin typeface="Sabon LT Std"/>
              <a:cs typeface="Sabon LT Std"/>
              <a:ea typeface="Sabon LT Std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222146" y="4335098"/>
            <a:ext cx="421385" cy="137160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marL="0" indent="0" algn="l">
              <a:lnSpc>
                <a:spcPts val="72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6">
                <a:solidFill>
                  <a:srgbClr val="463E41"/>
                </a:solidFill>
                <a:latin typeface="Source Han Sans CN Normal"/>
                <a:cs typeface="Source Han Sans CN Normal"/>
                <a:ea typeface="Source Han Sans CN Normal"/>
              </a:rPr>
              <a:t>全屋定制</a:t>
            </a:r>
            <a:endParaRPr sz="600" b="0" spc="6">
              <a:solidFill>
                <a:srgbClr val="463E41"/>
              </a:solidFill>
              <a:latin typeface="Source Han Sans CN Normal"/>
              <a:cs typeface="Source Han Sans CN Normal"/>
              <a:ea typeface="Source Han Sans CN Normal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050289" y="4497467"/>
            <a:ext cx="2169761" cy="434454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marL="0" indent="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3">
                <a:solidFill>
                  <a:srgbClr val="463E41"/>
                </a:solidFill>
                <a:latin typeface="Source Han Sans CN Normal"/>
                <a:cs typeface="Source Han Sans CN Normal"/>
                <a:ea typeface="Source Han Sans CN Normal"/>
              </a:rPr>
              <a:t xml:space="preserve">100% solid wood - crafted from real timber for </a:t>
            </a:r>
            <a:endParaRPr sz="700" b="0" spc="3">
              <a:solidFill>
                <a:srgbClr val="463E41"/>
              </a:solidFill>
              <a:latin typeface="Source Han Sans CN Normal"/>
              <a:cs typeface="Source Han Sans CN Normal"/>
              <a:ea typeface="Source Han Sans CN Normal"/>
            </a:endParaRPr>
          </a:p>
          <a:p>
            <a:pPr marL="0" indent="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-9">
                <a:solidFill>
                  <a:srgbClr val="463E41"/>
                </a:solidFill>
                <a:latin typeface="Source Han Sans CN Normal"/>
                <a:cs typeface="Source Han Sans CN Normal"/>
                <a:ea typeface="Source Han Sans CN Normal"/>
              </a:rPr>
              <a:t xml:space="preserve">lasting strength, durability, and a home that </a:t>
            </a:r>
            <a:endParaRPr sz="700" b="0" spc="-9">
              <a:solidFill>
                <a:srgbClr val="463E41"/>
              </a:solidFill>
              <a:latin typeface="Source Han Sans CN Normal"/>
              <a:cs typeface="Source Han Sans CN Normal"/>
              <a:ea typeface="Source Han Sans CN Normal"/>
            </a:endParaRPr>
          </a:p>
          <a:p>
            <a:pPr marL="0" indent="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-22">
                <a:solidFill>
                  <a:srgbClr val="463E41"/>
                </a:solidFill>
                <a:latin typeface="Source Han Sans CN Normal"/>
                <a:cs typeface="Source Han Sans CN Normal"/>
                <a:ea typeface="Source Han Sans CN Normal"/>
              </a:rPr>
              <a:t>grows with you.</a:t>
            </a:r>
            <a:endParaRPr sz="700" b="0" spc="-22">
              <a:solidFill>
                <a:srgbClr val="463E41"/>
              </a:solidFill>
              <a:latin typeface="Source Han Sans CN Normal"/>
              <a:cs typeface="Source Han Sans CN Normal"/>
              <a:ea typeface="Source Han Sans CN Norm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201635" y="4586367"/>
            <a:ext cx="1360391" cy="307416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marL="0" indent="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7">
                <a:solidFill>
                  <a:srgbClr val="463E41"/>
                </a:solidFill>
                <a:latin typeface="Source Han Sans CN Normal"/>
                <a:cs typeface="Source Han Sans CN Normal"/>
                <a:ea typeface="Source Han Sans CN Normal"/>
              </a:rPr>
              <a:t xml:space="preserve">Custom or build-in cabinetry </a:t>
            </a:r>
            <a:endParaRPr sz="700" b="0" spc="7">
              <a:solidFill>
                <a:srgbClr val="463E41"/>
              </a:solidFill>
              <a:latin typeface="Source Han Sans CN Normal"/>
              <a:cs typeface="Source Han Sans CN Normal"/>
              <a:ea typeface="Source Han Sans CN Normal"/>
            </a:endParaRPr>
          </a:p>
          <a:p>
            <a:pPr marL="0" indent="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4">
                <a:solidFill>
                  <a:srgbClr val="463E41"/>
                </a:solidFill>
                <a:latin typeface="Source Han Sans CN Normal"/>
                <a:cs typeface="Source Han Sans CN Normal"/>
                <a:ea typeface="Source Han Sans CN Normal"/>
              </a:rPr>
              <a:t>tailored to each space</a:t>
            </a:r>
            <a:endParaRPr sz="700" b="0" spc="4">
              <a:solidFill>
                <a:srgbClr val="463E41"/>
              </a:solidFill>
              <a:latin typeface="Source Han Sans CN Normal"/>
              <a:cs typeface="Source Han Sans CN Normal"/>
              <a:ea typeface="Source Han Sans CN Norm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634976" y="4660998"/>
            <a:ext cx="922017" cy="137160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marL="0" indent="0" algn="ctr">
              <a:lnSpc>
                <a:spcPts val="72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6">
                <a:solidFill>
                  <a:srgbClr val="463E41"/>
                </a:solidFill>
                <a:latin typeface="Source Han Sans CN Normal"/>
                <a:cs typeface="Source Han Sans CN Normal"/>
                <a:ea typeface="Source Han Sans CN Normal"/>
              </a:rPr>
              <a:t>让每一处空间，都有温度</a:t>
            </a:r>
            <a:endParaRPr sz="600" b="0" spc="6">
              <a:solidFill>
                <a:srgbClr val="463E41"/>
              </a:solidFill>
              <a:latin typeface="Source Han Sans CN Normal"/>
              <a:cs typeface="Source Han Sans CN Normal"/>
              <a:ea typeface="Source Han Sans CN Norm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587940" y="4792011"/>
            <a:ext cx="3540975" cy="240029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marL="0" indent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spc="10">
                <a:solidFill>
                  <a:srgbClr val="000000"/>
                </a:solidFill>
                <a:latin typeface="Sabon LT Std"/>
                <a:cs typeface="Sabon LT Std"/>
                <a:ea typeface="Sabon LT Std"/>
              </a:rPr>
              <a:t>Let every corner of your space, feel warm and inviting</a:t>
            </a:r>
            <a:endParaRPr sz="1050" b="1" spc="10">
              <a:solidFill>
                <a:srgbClr val="000000"/>
              </a:solidFill>
              <a:latin typeface="Sabon LT Std"/>
              <a:cs typeface="Sabon LT Std"/>
              <a:ea typeface="Sabon LT Std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201635" y="4836722"/>
            <a:ext cx="1551557" cy="299770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marL="0" indent="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6">
                <a:solidFill>
                  <a:srgbClr val="463E41"/>
                </a:solidFill>
                <a:latin typeface="Source Han Sans CN Normal"/>
                <a:cs typeface="Source Han Sans CN Normal"/>
                <a:ea typeface="Source Han Sans CN Normal"/>
              </a:rPr>
              <a:t>量身定制，根据每个空间需求，打造专属的</a:t>
            </a:r>
            <a:endParaRPr sz="600" b="0" spc="6">
              <a:solidFill>
                <a:srgbClr val="463E41"/>
              </a:solidFill>
              <a:latin typeface="Source Han Sans CN Normal"/>
              <a:cs typeface="Source Han Sans CN Normal"/>
              <a:ea typeface="Source Han Sans CN Normal"/>
            </a:endParaRPr>
          </a:p>
          <a:p>
            <a:pPr marL="0" indent="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6">
                <a:solidFill>
                  <a:srgbClr val="463E41"/>
                </a:solidFill>
                <a:latin typeface="Source Han Sans CN Normal"/>
                <a:cs typeface="Source Han Sans CN Normal"/>
                <a:ea typeface="Source Han Sans CN Normal"/>
              </a:rPr>
              <a:t>嵌入式或定制柜体方案。</a:t>
            </a:r>
            <a:endParaRPr sz="600" b="0" spc="6">
              <a:solidFill>
                <a:srgbClr val="463E41"/>
              </a:solidFill>
              <a:latin typeface="Source Han Sans CN Normal"/>
              <a:cs typeface="Source Han Sans CN Normal"/>
              <a:ea typeface="Source Han Sans CN Normal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050289" y="4874822"/>
            <a:ext cx="2129241" cy="299770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marL="0" indent="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6">
                <a:solidFill>
                  <a:srgbClr val="463E41"/>
                </a:solidFill>
                <a:latin typeface="Source Han Sans CN Normal"/>
                <a:cs typeface="Source Han Sans CN Normal"/>
                <a:ea typeface="Source Han Sans CN Normal"/>
              </a:rPr>
              <a:t>100%实木打造 ⸺ 甄选天然木材，坚固耐用，经得起时间</a:t>
            </a:r>
            <a:endParaRPr sz="600" b="0" spc="6">
              <a:solidFill>
                <a:srgbClr val="463E41"/>
              </a:solidFill>
              <a:latin typeface="Source Han Sans CN Normal"/>
              <a:cs typeface="Source Han Sans CN Normal"/>
              <a:ea typeface="Source Han Sans CN Normal"/>
            </a:endParaRPr>
          </a:p>
          <a:p>
            <a:pPr marL="0" indent="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6">
                <a:solidFill>
                  <a:srgbClr val="463E41"/>
                </a:solidFill>
                <a:latin typeface="Source Han Sans CN Normal"/>
                <a:cs typeface="Source Han Sans CN Normal"/>
                <a:ea typeface="Source Han Sans CN Normal"/>
              </a:rPr>
              <a:t>考验，陪伴家的成长。</a:t>
            </a:r>
            <a:endParaRPr sz="600" b="0" spc="6">
              <a:solidFill>
                <a:srgbClr val="463E41"/>
              </a:solidFill>
              <a:latin typeface="Source Han Sans CN Normal"/>
              <a:cs typeface="Source Han Sans CN Normal"/>
              <a:ea typeface="Source Han Sans CN Normal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222146" y="5268305"/>
            <a:ext cx="1519493" cy="434453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marL="0" indent="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4">
                <a:solidFill>
                  <a:srgbClr val="463E41"/>
                </a:solidFill>
                <a:latin typeface="Source Han Sans CN Normal"/>
                <a:cs typeface="Source Han Sans CN Normal"/>
                <a:ea typeface="Source Han Sans CN Normal"/>
              </a:rPr>
              <a:t xml:space="preserve">Wall panel and door to meet the </a:t>
            </a:r>
            <a:endParaRPr sz="700" b="0" spc="4">
              <a:solidFill>
                <a:srgbClr val="463E41"/>
              </a:solidFill>
              <a:latin typeface="Source Han Sans CN Normal"/>
              <a:cs typeface="Source Han Sans CN Normal"/>
              <a:ea typeface="Source Han Sans CN Normal"/>
            </a:endParaRPr>
          </a:p>
          <a:p>
            <a:pPr marL="0" indent="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2">
                <a:solidFill>
                  <a:srgbClr val="463E41"/>
                </a:solidFill>
                <a:latin typeface="Source Han Sans CN Normal"/>
                <a:cs typeface="Source Han Sans CN Normal"/>
                <a:ea typeface="Source Han Sans CN Normal"/>
              </a:rPr>
              <a:t xml:space="preserve">needs of spatial design </a:t>
            </a:r>
            <a:endParaRPr sz="700" b="0" spc="12">
              <a:solidFill>
                <a:srgbClr val="463E41"/>
              </a:solidFill>
              <a:latin typeface="Source Han Sans CN Normal"/>
              <a:cs typeface="Source Han Sans CN Normal"/>
              <a:ea typeface="Source Han Sans CN Normal"/>
            </a:endParaRPr>
          </a:p>
          <a:p>
            <a:pPr marL="0" indent="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63E41"/>
                </a:solidFill>
                <a:latin typeface="Source Han Sans CN Normal"/>
                <a:cs typeface="Source Han Sans CN Normal"/>
                <a:ea typeface="Source Han Sans CN Normal"/>
              </a:rPr>
              <a:t>coordination</a:t>
            </a:r>
            <a:endParaRPr sz="700" b="0">
              <a:solidFill>
                <a:srgbClr val="463E41"/>
              </a:solidFill>
              <a:latin typeface="Source Han Sans CN Normal"/>
              <a:cs typeface="Source Han Sans CN Normal"/>
              <a:ea typeface="Source Han Sans CN Normal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050296" y="5312755"/>
            <a:ext cx="2157535" cy="434453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marL="0" indent="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-21">
                <a:solidFill>
                  <a:srgbClr val="463E41"/>
                </a:solidFill>
                <a:latin typeface="Source Han Sans CN Normal"/>
                <a:cs typeface="Source Han Sans CN Normal"/>
                <a:ea typeface="Source Han Sans CN Normal"/>
              </a:rPr>
              <a:t xml:space="preserve">Flexible, loose furniture living - No drilling. No </a:t>
            </a:r>
            <a:endParaRPr sz="700" b="0" spc="-21">
              <a:solidFill>
                <a:srgbClr val="463E41"/>
              </a:solidFill>
              <a:latin typeface="Source Han Sans CN Normal"/>
              <a:cs typeface="Source Han Sans CN Normal"/>
              <a:ea typeface="Source Han Sans CN Normal"/>
            </a:endParaRPr>
          </a:p>
          <a:p>
            <a:pPr marL="0" indent="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-15">
                <a:solidFill>
                  <a:srgbClr val="463E41"/>
                </a:solidFill>
                <a:latin typeface="Source Han Sans CN Normal"/>
                <a:cs typeface="Source Han Sans CN Normal"/>
                <a:ea typeface="Source Han Sans CN Normal"/>
              </a:rPr>
              <a:t xml:space="preserve">fixed layouts. Modular, renter-friendly designs </a:t>
            </a:r>
            <a:endParaRPr sz="700" b="0" spc="-15">
              <a:solidFill>
                <a:srgbClr val="463E41"/>
              </a:solidFill>
              <a:latin typeface="Source Han Sans CN Normal"/>
              <a:cs typeface="Source Han Sans CN Normal"/>
              <a:ea typeface="Source Han Sans CN Normal"/>
            </a:endParaRPr>
          </a:p>
          <a:p>
            <a:pPr marL="0" indent="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3">
                <a:solidFill>
                  <a:srgbClr val="463E41"/>
                </a:solidFill>
                <a:latin typeface="Source Han Sans CN Normal"/>
                <a:cs typeface="Source Han Sans CN Normal"/>
                <a:ea typeface="Source Han Sans CN Normal"/>
              </a:rPr>
              <a:t>that move, adapt, and travel with you.</a:t>
            </a:r>
            <a:endParaRPr sz="700" b="0" spc="3">
              <a:solidFill>
                <a:srgbClr val="463E41"/>
              </a:solidFill>
              <a:latin typeface="Source Han Sans CN Normal"/>
              <a:cs typeface="Source Han Sans CN Normal"/>
              <a:ea typeface="Source Han Sans CN Normal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222146" y="5645659"/>
            <a:ext cx="1648679" cy="299770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marL="0" indent="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6">
                <a:solidFill>
                  <a:srgbClr val="463E41"/>
                </a:solidFill>
                <a:latin typeface="Source Han Sans CN Normal"/>
                <a:cs typeface="Source Han Sans CN Normal"/>
                <a:ea typeface="Source Han Sans CN Normal"/>
              </a:rPr>
              <a:t>门·墙·柜一体化设计 ⸺ 墙板与门系统协调</a:t>
            </a:r>
            <a:endParaRPr sz="600" b="0" spc="6">
              <a:solidFill>
                <a:srgbClr val="463E41"/>
              </a:solidFill>
              <a:latin typeface="Source Han Sans CN Normal"/>
              <a:cs typeface="Source Han Sans CN Normal"/>
              <a:ea typeface="Source Han Sans CN Normal"/>
            </a:endParaRPr>
          </a:p>
          <a:p>
            <a:pPr marL="0" indent="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6">
                <a:solidFill>
                  <a:srgbClr val="463E41"/>
                </a:solidFill>
                <a:latin typeface="Source Han Sans CN Normal"/>
                <a:cs typeface="Source Han Sans CN Normal"/>
                <a:ea typeface="Source Han Sans CN Normal"/>
              </a:rPr>
              <a:t>统一，实现整体空间的完整与连贯。</a:t>
            </a:r>
            <a:endParaRPr sz="600" b="0" spc="6">
              <a:solidFill>
                <a:srgbClr val="463E41"/>
              </a:solidFill>
              <a:latin typeface="Source Han Sans CN Normal"/>
              <a:cs typeface="Source Han Sans CN Normal"/>
              <a:ea typeface="Source Han Sans CN Normal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050296" y="5690109"/>
            <a:ext cx="2079656" cy="299770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marL="0" indent="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6">
                <a:solidFill>
                  <a:srgbClr val="463E41"/>
                </a:solidFill>
                <a:latin typeface="Source Han Sans CN Normal"/>
                <a:cs typeface="Source Han Sans CN Normal"/>
                <a:ea typeface="Source Han Sans CN Normal"/>
              </a:rPr>
              <a:t>灵活自由的生活方式 ⸺ 无需打孔，无固定布局，模块化</a:t>
            </a:r>
            <a:endParaRPr sz="600" b="0" spc="6">
              <a:solidFill>
                <a:srgbClr val="463E41"/>
              </a:solidFill>
              <a:latin typeface="Source Han Sans CN Normal"/>
              <a:cs typeface="Source Han Sans CN Normal"/>
              <a:ea typeface="Source Han Sans CN Normal"/>
            </a:endParaRPr>
          </a:p>
          <a:p>
            <a:pPr marL="0" indent="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6">
                <a:solidFill>
                  <a:srgbClr val="463E41"/>
                </a:solidFill>
                <a:latin typeface="Source Han Sans CN Normal"/>
                <a:cs typeface="Source Han Sans CN Normal"/>
                <a:ea typeface="Source Han Sans CN Normal"/>
              </a:rPr>
              <a:t>设计，适合租住与多变空间，可随生活迁移与调整。</a:t>
            </a:r>
            <a:endParaRPr sz="600" b="0" spc="6">
              <a:solidFill>
                <a:srgbClr val="463E41"/>
              </a:solidFill>
              <a:latin typeface="Source Han Sans CN Normal"/>
              <a:cs typeface="Source Han Sans CN Normal"/>
              <a:ea typeface="Source Han Sans CN Norm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 p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"/>
            <a:ext cx="12191970" cy="685798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11468" y="2852187"/>
            <a:ext cx="969033" cy="205739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marL="0" indent="0" algn="ctr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63E41"/>
                </a:solidFill>
                <a:latin typeface="youyou-yisong"/>
                <a:cs typeface="youyou-yisong"/>
                <a:ea typeface="youyou-yisong"/>
              </a:rPr>
              <a:t>瑞吉欧实木家具</a:t>
            </a:r>
            <a:endParaRPr sz="900" b="0">
              <a:solidFill>
                <a:srgbClr val="463E41"/>
              </a:solidFill>
              <a:latin typeface="youyou-yisong"/>
              <a:cs typeface="youyou-yisong"/>
              <a:ea typeface="youyou-yisong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 p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"/>
            <a:ext cx="12191970" cy="685798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344509" y="343124"/>
            <a:ext cx="2690892" cy="205739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marL="0" indent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0" spc="-26">
                <a:solidFill>
                  <a:srgbClr val="463E41"/>
                </a:solidFill>
                <a:latin typeface="Source Han Sans CN Light"/>
                <a:cs typeface="Source Han Sans CN Light"/>
                <a:ea typeface="Source Han Sans CN Light"/>
              </a:rPr>
              <a:t>瑞吉欧实木家具  Riccione Solid Wood Furniture</a:t>
            </a:r>
            <a:endParaRPr sz="900" b="0" spc="-26">
              <a:solidFill>
                <a:srgbClr val="463E41"/>
              </a:solidFill>
              <a:latin typeface="Source Han Sans CN Light"/>
              <a:cs typeface="Source Han Sans CN Light"/>
              <a:ea typeface="Source Han Sans CN Light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00358" y="993235"/>
            <a:ext cx="5404395" cy="571499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marL="0" indent="0" algn="l">
              <a:lnSpc>
                <a:spcPts val="3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spc="50">
                <a:solidFill>
                  <a:srgbClr val="100A0B"/>
                </a:solidFill>
                <a:latin typeface="Sabon LT Std"/>
                <a:cs typeface="Sabon LT Std"/>
                <a:ea typeface="Sabon LT Std"/>
              </a:rPr>
              <a:t>Crafted by Time, Made for Living</a:t>
            </a:r>
            <a:endParaRPr sz="2500" b="1" spc="50">
              <a:solidFill>
                <a:srgbClr val="100A0B"/>
              </a:solidFill>
              <a:latin typeface="Sabon LT Std"/>
              <a:cs typeface="Sabon LT Std"/>
              <a:ea typeface="Sabon LT Std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4501" y="1429168"/>
            <a:ext cx="2482437" cy="285749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463E41"/>
                </a:solidFill>
                <a:latin typeface="youyou-yisong"/>
                <a:cs typeface="youyou-yisong"/>
                <a:ea typeface="youyou-yisong"/>
              </a:rPr>
              <a:t>自主研发，探索生活每一处细节</a:t>
            </a:r>
            <a:endParaRPr sz="1250" b="0">
              <a:solidFill>
                <a:srgbClr val="463E41"/>
              </a:solidFill>
              <a:latin typeface="youyou-yisong"/>
              <a:cs typeface="youyou-yisong"/>
              <a:ea typeface="youyou-yisong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072222" y="2027529"/>
            <a:ext cx="3020604" cy="641355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marL="0" indent="0" algn="l">
              <a:lnSpc>
                <a:spcPts val="3367"/>
              </a:lnSpc>
              <a:spcBef>
                <a:spcPts val="0"/>
              </a:spcBef>
              <a:spcAft>
                <a:spcPts val="0"/>
              </a:spcAft>
            </a:pPr>
            <a:r>
              <a:rPr sz="2806" b="0">
                <a:solidFill>
                  <a:srgbClr val="241F20"/>
                </a:solidFill>
                <a:latin typeface="youyou-yisong"/>
                <a:cs typeface="youyou-yisong"/>
                <a:ea typeface="youyou-yisong"/>
              </a:rPr>
              <a:t>瑞吉欧实木家具</a:t>
            </a:r>
            <a:endParaRPr sz="2806" b="0">
              <a:solidFill>
                <a:srgbClr val="241F20"/>
              </a:solidFill>
              <a:latin typeface="youyou-yisong"/>
              <a:cs typeface="youyou-yisong"/>
              <a:ea typeface="youyou-yisong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782632" y="3021191"/>
            <a:ext cx="3310483" cy="299770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marL="0" indent="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-13">
                <a:solidFill>
                  <a:srgbClr val="463E41"/>
                </a:solidFill>
                <a:latin typeface="Source Han Sans CN Normal"/>
                <a:cs typeface="Source Han Sans CN Normal"/>
                <a:ea typeface="Source Han Sans CN Normal"/>
              </a:rPr>
              <a:t xml:space="preserve">RICCIONE Furniture is a Malaysian solid wood furniture brand dedicated to creating </a:t>
            </a:r>
            <a:endParaRPr sz="600" b="0" spc="-13">
              <a:solidFill>
                <a:srgbClr val="463E41"/>
              </a:solidFill>
              <a:latin typeface="Source Han Sans CN Normal"/>
              <a:cs typeface="Source Han Sans CN Normal"/>
              <a:ea typeface="Source Han Sans CN Normal"/>
            </a:endParaRPr>
          </a:p>
          <a:p>
            <a:pPr marL="0" indent="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-6">
                <a:solidFill>
                  <a:srgbClr val="463E41"/>
                </a:solidFill>
                <a:latin typeface="Source Han Sans CN Normal"/>
                <a:cs typeface="Source Han Sans CN Normal"/>
                <a:ea typeface="Source Han Sans CN Normal"/>
              </a:rPr>
              <a:t>high-quality furniture designed to accompany everyday living for years to come.</a:t>
            </a:r>
            <a:endParaRPr sz="600" b="0" spc="-6">
              <a:solidFill>
                <a:srgbClr val="463E41"/>
              </a:solidFill>
              <a:latin typeface="Source Han Sans CN Normal"/>
              <a:cs typeface="Source Han Sans CN Normal"/>
              <a:ea typeface="Source Han Sans CN Norm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042384" y="3022944"/>
            <a:ext cx="2873740" cy="299770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marL="0" indent="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6">
                <a:solidFill>
                  <a:srgbClr val="463E41"/>
                </a:solidFill>
                <a:latin typeface="Source Han Sans CN Normal"/>
                <a:cs typeface="Source Han Sans CN Normal"/>
                <a:ea typeface="Source Han Sans CN Normal"/>
              </a:rPr>
              <a:t>RICCIONE FURNITURE 是一家来自马来西亚的实木家具品牌，专注于提供高</a:t>
            </a:r>
            <a:endParaRPr sz="600" b="0" spc="6">
              <a:solidFill>
                <a:srgbClr val="463E41"/>
              </a:solidFill>
              <a:latin typeface="Source Han Sans CN Normal"/>
              <a:cs typeface="Source Han Sans CN Normal"/>
              <a:ea typeface="Source Han Sans CN Normal"/>
            </a:endParaRPr>
          </a:p>
          <a:p>
            <a:pPr marL="0" indent="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6">
                <a:solidFill>
                  <a:srgbClr val="463E41"/>
                </a:solidFill>
                <a:latin typeface="Source Han Sans CN Normal"/>
                <a:cs typeface="Source Han Sans CN Normal"/>
                <a:ea typeface="Source Han Sans CN Normal"/>
              </a:rPr>
              <a:t>品质实木家具，并致力于打造能够长久陪伴生活的居家空间。</a:t>
            </a:r>
            <a:endParaRPr sz="600" b="0" spc="6">
              <a:solidFill>
                <a:srgbClr val="463E41"/>
              </a:solidFill>
              <a:latin typeface="Source Han Sans CN Normal"/>
              <a:cs typeface="Source Han Sans CN Normal"/>
              <a:ea typeface="Source Han Sans CN Normal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782632" y="3402191"/>
            <a:ext cx="3310461" cy="426795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marL="0" indent="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-9">
                <a:solidFill>
                  <a:srgbClr val="463E41"/>
                </a:solidFill>
                <a:latin typeface="Source Han Sans CN Normal"/>
                <a:cs typeface="Source Han Sans CN Normal"/>
                <a:ea typeface="Source Han Sans CN Normal"/>
              </a:rPr>
              <a:t xml:space="preserve">We believe that wood is more than just a material — it carries warmth, texture, and </a:t>
            </a:r>
            <a:endParaRPr sz="600" b="0" spc="-9">
              <a:solidFill>
                <a:srgbClr val="463E41"/>
              </a:solidFill>
              <a:latin typeface="Source Han Sans CN Normal"/>
              <a:cs typeface="Source Han Sans CN Normal"/>
              <a:ea typeface="Source Han Sans CN Normal"/>
            </a:endParaRPr>
          </a:p>
          <a:p>
            <a:pPr marL="0" indent="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3">
                <a:solidFill>
                  <a:srgbClr val="463E41"/>
                </a:solidFill>
                <a:latin typeface="Source Han Sans CN Normal"/>
                <a:cs typeface="Source Han Sans CN Normal"/>
                <a:ea typeface="Source Han Sans CN Normal"/>
              </a:rPr>
              <a:t xml:space="preserve">a sense of life. Every piece of wood holds its own natural character and reflects the </a:t>
            </a:r>
            <a:endParaRPr sz="600" b="0" spc="3">
              <a:solidFill>
                <a:srgbClr val="463E41"/>
              </a:solidFill>
              <a:latin typeface="Source Han Sans CN Normal"/>
              <a:cs typeface="Source Han Sans CN Normal"/>
              <a:ea typeface="Source Han Sans CN Normal"/>
            </a:endParaRPr>
          </a:p>
          <a:p>
            <a:pPr marL="0" indent="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6">
                <a:solidFill>
                  <a:srgbClr val="463E41"/>
                </a:solidFill>
                <a:latin typeface="Source Han Sans CN Normal"/>
                <a:cs typeface="Source Han Sans CN Normal"/>
                <a:ea typeface="Source Han Sans CN Normal"/>
              </a:rPr>
              <a:t>connection between people and the spaces they live in.</a:t>
            </a:r>
            <a:endParaRPr sz="600" b="0" spc="6">
              <a:solidFill>
                <a:srgbClr val="463E41"/>
              </a:solidFill>
              <a:latin typeface="Source Han Sans CN Normal"/>
              <a:cs typeface="Source Han Sans CN Normal"/>
              <a:ea typeface="Source Han Sans CN Normal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042384" y="3403943"/>
            <a:ext cx="2874091" cy="426795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marL="0" indent="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21">
                <a:solidFill>
                  <a:srgbClr val="463E41"/>
                </a:solidFill>
                <a:latin typeface="Source Han Sans CN Normal"/>
                <a:cs typeface="Source Han Sans CN Normal"/>
                <a:ea typeface="Source Han Sans CN Normal"/>
              </a:rPr>
              <a:t>我们始终相信，木头不仅是一种材料，更是一种带有生命力与温度的存在。每</a:t>
            </a:r>
            <a:endParaRPr sz="600" b="0" spc="21">
              <a:solidFill>
                <a:srgbClr val="463E41"/>
              </a:solidFill>
              <a:latin typeface="Source Han Sans CN Normal"/>
              <a:cs typeface="Source Han Sans CN Normal"/>
              <a:ea typeface="Source Han Sans CN Normal"/>
            </a:endParaRPr>
          </a:p>
          <a:p>
            <a:pPr marL="0" indent="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12">
                <a:solidFill>
                  <a:srgbClr val="463E41"/>
                </a:solidFill>
                <a:latin typeface="Source Han Sans CN Normal"/>
                <a:cs typeface="Source Han Sans CN Normal"/>
                <a:ea typeface="Source Han Sans CN Normal"/>
              </a:rPr>
              <a:t>一块木材，都拥有独特的纹理与自然痕迹，也承载着人与空间之间真实而自然</a:t>
            </a:r>
            <a:endParaRPr sz="600" b="0" spc="12">
              <a:solidFill>
                <a:srgbClr val="463E41"/>
              </a:solidFill>
              <a:latin typeface="Source Han Sans CN Normal"/>
              <a:cs typeface="Source Han Sans CN Normal"/>
              <a:ea typeface="Source Han Sans CN Normal"/>
            </a:endParaRPr>
          </a:p>
          <a:p>
            <a:pPr marL="0" indent="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6">
                <a:solidFill>
                  <a:srgbClr val="463E41"/>
                </a:solidFill>
                <a:latin typeface="Source Han Sans CN Normal"/>
                <a:cs typeface="Source Han Sans CN Normal"/>
                <a:ea typeface="Source Han Sans CN Normal"/>
              </a:rPr>
              <a:t>的情感连接。</a:t>
            </a:r>
            <a:endParaRPr sz="600" b="0" spc="6">
              <a:solidFill>
                <a:srgbClr val="463E41"/>
              </a:solidFill>
              <a:latin typeface="Source Han Sans CN Normal"/>
              <a:cs typeface="Source Han Sans CN Normal"/>
              <a:ea typeface="Source Han Sans CN Norm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782632" y="3910214"/>
            <a:ext cx="3310487" cy="426796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marL="0" indent="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3">
                <a:solidFill>
                  <a:srgbClr val="463E41"/>
                </a:solidFill>
                <a:latin typeface="Source Han Sans CN Normal"/>
                <a:cs typeface="Source Han Sans CN Normal"/>
                <a:ea typeface="Source Han Sans CN Normal"/>
              </a:rPr>
              <a:t xml:space="preserve">Driven by our passion for wood, we place strong emphasis on material selection, </a:t>
            </a:r>
            <a:endParaRPr sz="600" b="0" spc="3">
              <a:solidFill>
                <a:srgbClr val="463E41"/>
              </a:solidFill>
              <a:latin typeface="Source Han Sans CN Normal"/>
              <a:cs typeface="Source Han Sans CN Normal"/>
              <a:ea typeface="Source Han Sans CN Normal"/>
            </a:endParaRPr>
          </a:p>
          <a:p>
            <a:pPr marL="0" indent="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2">
                <a:solidFill>
                  <a:srgbClr val="463E41"/>
                </a:solidFill>
                <a:latin typeface="Source Han Sans CN Normal"/>
                <a:cs typeface="Source Han Sans CN Normal"/>
                <a:ea typeface="Source Han Sans CN Normal"/>
              </a:rPr>
              <a:t xml:space="preserve">original design, proportions, and detailing to create furniture that is aesthetic, </a:t>
            </a:r>
            <a:endParaRPr sz="600" b="0" spc="2">
              <a:solidFill>
                <a:srgbClr val="463E41"/>
              </a:solidFill>
              <a:latin typeface="Source Han Sans CN Normal"/>
              <a:cs typeface="Source Han Sans CN Normal"/>
              <a:ea typeface="Source Han Sans CN Normal"/>
            </a:endParaRPr>
          </a:p>
          <a:p>
            <a:pPr marL="0" indent="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3">
                <a:solidFill>
                  <a:srgbClr val="463E41"/>
                </a:solidFill>
                <a:latin typeface="Source Han Sans CN Normal"/>
                <a:cs typeface="Source Han Sans CN Normal"/>
                <a:ea typeface="Source Han Sans CN Normal"/>
              </a:rPr>
              <a:t>durable, and timeless.</a:t>
            </a:r>
            <a:endParaRPr sz="600" b="0" spc="3">
              <a:solidFill>
                <a:srgbClr val="463E41"/>
              </a:solidFill>
              <a:latin typeface="Source Han Sans CN Normal"/>
              <a:cs typeface="Source Han Sans CN Normal"/>
              <a:ea typeface="Source Han Sans CN Norm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042384" y="3911967"/>
            <a:ext cx="2874215" cy="426796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marL="0" indent="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12">
                <a:solidFill>
                  <a:srgbClr val="463E41"/>
                </a:solidFill>
                <a:latin typeface="Source Han Sans CN Normal"/>
                <a:cs typeface="Source Han Sans CN Normal"/>
                <a:ea typeface="Source Han Sans CN Normal"/>
              </a:rPr>
              <a:t>基于对木材的热爱与坚持，瑞吉欧认真对待每一块木材的选择，并通过自主设</a:t>
            </a:r>
            <a:endParaRPr sz="600" b="0" spc="12">
              <a:solidFill>
                <a:srgbClr val="463E41"/>
              </a:solidFill>
              <a:latin typeface="Source Han Sans CN Normal"/>
              <a:cs typeface="Source Han Sans CN Normal"/>
              <a:ea typeface="Source Han Sans CN Normal"/>
            </a:endParaRPr>
          </a:p>
          <a:p>
            <a:pPr marL="0" indent="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12">
                <a:solidFill>
                  <a:srgbClr val="463E41"/>
                </a:solidFill>
                <a:latin typeface="Source Han Sans CN Normal"/>
                <a:cs typeface="Source Han Sans CN Normal"/>
                <a:ea typeface="Source Han Sans CN Normal"/>
              </a:rPr>
              <a:t>计、对比例结构的讲究，以及对细节与质感的坚持，呈现兼具美感、耐用性与生</a:t>
            </a:r>
            <a:endParaRPr sz="600" b="0" spc="12">
              <a:solidFill>
                <a:srgbClr val="463E41"/>
              </a:solidFill>
              <a:latin typeface="Source Han Sans CN Normal"/>
              <a:cs typeface="Source Han Sans CN Normal"/>
              <a:ea typeface="Source Han Sans CN Normal"/>
            </a:endParaRPr>
          </a:p>
          <a:p>
            <a:pPr marL="0" indent="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6">
                <a:solidFill>
                  <a:srgbClr val="463E41"/>
                </a:solidFill>
                <a:latin typeface="Source Han Sans CN Normal"/>
                <a:cs typeface="Source Han Sans CN Normal"/>
                <a:ea typeface="Source Han Sans CN Normal"/>
              </a:rPr>
              <a:t>活温度的家具作品。</a:t>
            </a:r>
            <a:endParaRPr sz="600" b="0" spc="6">
              <a:solidFill>
                <a:srgbClr val="463E41"/>
              </a:solidFill>
              <a:latin typeface="Source Han Sans CN Normal"/>
              <a:cs typeface="Source Han Sans CN Normal"/>
              <a:ea typeface="Source Han Sans CN Norm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782632" y="4418238"/>
            <a:ext cx="3310476" cy="299770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marL="0" indent="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-13">
                <a:solidFill>
                  <a:srgbClr val="463E41"/>
                </a:solidFill>
                <a:latin typeface="Source Han Sans CN Normal"/>
                <a:cs typeface="Source Han Sans CN Normal"/>
                <a:ea typeface="Source Han Sans CN Normal"/>
              </a:rPr>
              <a:t xml:space="preserve">At RICCIONE, we believe that truly good furniture is not only made to last, but also </a:t>
            </a:r>
            <a:endParaRPr sz="600" b="0" spc="-13">
              <a:solidFill>
                <a:srgbClr val="463E41"/>
              </a:solidFill>
              <a:latin typeface="Source Han Sans CN Normal"/>
              <a:cs typeface="Source Han Sans CN Normal"/>
              <a:ea typeface="Source Han Sans CN Normal"/>
            </a:endParaRPr>
          </a:p>
          <a:p>
            <a:pPr marL="0" indent="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-3">
                <a:solidFill>
                  <a:srgbClr val="463E41"/>
                </a:solidFill>
                <a:latin typeface="Source Han Sans CN Normal"/>
                <a:cs typeface="Source Han Sans CN Normal"/>
                <a:ea typeface="Source Han Sans CN Normal"/>
              </a:rPr>
              <a:t>made to grow with life over time.</a:t>
            </a:r>
            <a:endParaRPr sz="600" b="0" spc="-3">
              <a:solidFill>
                <a:srgbClr val="463E41"/>
              </a:solidFill>
              <a:latin typeface="Source Han Sans CN Normal"/>
              <a:cs typeface="Source Han Sans CN Normal"/>
              <a:ea typeface="Source Han Sans CN Normal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042384" y="4419991"/>
            <a:ext cx="2874083" cy="299770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marL="0" indent="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21">
                <a:solidFill>
                  <a:srgbClr val="463E41"/>
                </a:solidFill>
                <a:latin typeface="Source Han Sans CN Normal"/>
                <a:cs typeface="Source Han Sans CN Normal"/>
                <a:ea typeface="Source Han Sans CN Normal"/>
              </a:rPr>
              <a:t>我们所追求的，并非短暂流行的设计，而是能够经得起时间考验、长期融入生</a:t>
            </a:r>
            <a:endParaRPr sz="600" b="0" spc="21">
              <a:solidFill>
                <a:srgbClr val="463E41"/>
              </a:solidFill>
              <a:latin typeface="Source Han Sans CN Normal"/>
              <a:cs typeface="Source Han Sans CN Normal"/>
              <a:ea typeface="Source Han Sans CN Normal"/>
            </a:endParaRPr>
          </a:p>
          <a:p>
            <a:pPr marL="0" indent="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6">
                <a:solidFill>
                  <a:srgbClr val="463E41"/>
                </a:solidFill>
                <a:latin typeface="Source Han Sans CN Normal"/>
                <a:cs typeface="Source Han Sans CN Normal"/>
                <a:ea typeface="Source Han Sans CN Normal"/>
              </a:rPr>
              <a:t>活，并随着岁月沉淀愈发耐看的家具。</a:t>
            </a:r>
            <a:endParaRPr sz="600" b="0" spc="6">
              <a:solidFill>
                <a:srgbClr val="463E41"/>
              </a:solidFill>
              <a:latin typeface="Source Han Sans CN Normal"/>
              <a:cs typeface="Source Han Sans CN Normal"/>
              <a:ea typeface="Source Han Sans CN Normal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798808" y="5241006"/>
            <a:ext cx="260642" cy="68580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marL="0" indent="0" algn="l">
              <a:lnSpc>
                <a:spcPts val="360"/>
              </a:lnSpc>
              <a:spcBef>
                <a:spcPts val="0"/>
              </a:spcBef>
              <a:spcAft>
                <a:spcPts val="0"/>
              </a:spcAft>
            </a:pPr>
            <a:r>
              <a:rPr sz="300" b="0" spc="-22">
                <a:solidFill>
                  <a:srgbClr val="000000"/>
                </a:solidFill>
                <a:latin typeface="youyou-yisong"/>
                <a:cs typeface="youyou-yisong"/>
                <a:ea typeface="youyou-yisong"/>
              </a:rPr>
              <a:t>Lorem ipsum</a:t>
            </a:r>
            <a:endParaRPr sz="300" b="0" spc="-22">
              <a:solidFill>
                <a:srgbClr val="000000"/>
              </a:solidFill>
              <a:latin typeface="youyou-yisong"/>
              <a:cs typeface="youyou-yisong"/>
              <a:ea typeface="youyou-yisong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 p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"/>
            <a:ext cx="12191970" cy="685798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51196" y="400909"/>
            <a:ext cx="1903408" cy="571499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marL="0" indent="0" algn="l">
              <a:lnSpc>
                <a:spcPts val="3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spc="50">
                <a:solidFill>
                  <a:srgbClr val="100A0B"/>
                </a:solidFill>
                <a:latin typeface="Sabon LT Std"/>
                <a:cs typeface="Sabon LT Std"/>
                <a:ea typeface="Sabon LT Std"/>
              </a:rPr>
              <a:t>Our Story</a:t>
            </a:r>
            <a:endParaRPr sz="2500" b="1" spc="50">
              <a:solidFill>
                <a:srgbClr val="100A0B"/>
              </a:solidFill>
              <a:latin typeface="Sabon LT Std"/>
              <a:cs typeface="Sabon LT Std"/>
              <a:ea typeface="Sabon LT Std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11459" y="810597"/>
            <a:ext cx="1507169" cy="285749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463E41"/>
                </a:solidFill>
                <a:latin typeface="youyou-yisong"/>
                <a:cs typeface="youyou-yisong"/>
                <a:ea typeface="youyou-yisong"/>
              </a:rPr>
              <a:t>我们的故事与坚持</a:t>
            </a:r>
            <a:endParaRPr sz="1250" b="0">
              <a:solidFill>
                <a:srgbClr val="463E41"/>
              </a:solidFill>
              <a:latin typeface="youyou-yisong"/>
              <a:cs typeface="youyou-yisong"/>
              <a:ea typeface="youyou-yisong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049362" y="1170704"/>
            <a:ext cx="2047839" cy="934897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marL="0" indent="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-1">
                <a:solidFill>
                  <a:srgbClr val="463E41"/>
                </a:solidFill>
                <a:latin typeface="Source Han Sans CN Normal"/>
                <a:cs typeface="Source Han Sans CN Normal"/>
                <a:ea typeface="Source Han Sans CN Normal"/>
              </a:rPr>
              <a:t xml:space="preserve">2024: Strategic Upgrade Across China &amp; Malaysia — </a:t>
            </a:r>
            <a:endParaRPr sz="600" b="0" spc="-1">
              <a:solidFill>
                <a:srgbClr val="463E41"/>
              </a:solidFill>
              <a:latin typeface="Source Han Sans CN Normal"/>
              <a:cs typeface="Source Han Sans CN Normal"/>
              <a:ea typeface="Source Han Sans CN Normal"/>
            </a:endParaRPr>
          </a:p>
          <a:p>
            <a:pPr marL="0" indent="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-14">
                <a:solidFill>
                  <a:srgbClr val="463E41"/>
                </a:solidFill>
                <a:latin typeface="Source Han Sans CN Normal"/>
                <a:cs typeface="Source Han Sans CN Normal"/>
                <a:ea typeface="Source Han Sans CN Normal"/>
              </a:rPr>
              <a:t xml:space="preserve">Transitioned the China market from a traditional </a:t>
            </a:r>
            <a:endParaRPr sz="600" b="0" spc="-14">
              <a:solidFill>
                <a:srgbClr val="463E41"/>
              </a:solidFill>
              <a:latin typeface="Source Han Sans CN Normal"/>
              <a:cs typeface="Source Han Sans CN Normal"/>
              <a:ea typeface="Source Han Sans CN Normal"/>
            </a:endParaRPr>
          </a:p>
          <a:p>
            <a:pPr marL="0" indent="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3">
                <a:solidFill>
                  <a:srgbClr val="463E41"/>
                </a:solidFill>
                <a:latin typeface="Source Han Sans CN Normal"/>
                <a:cs typeface="Source Han Sans CN Normal"/>
                <a:ea typeface="Source Han Sans CN Normal"/>
              </a:rPr>
              <a:t xml:space="preserve">wholesale model into a branded retail showroom </a:t>
            </a:r>
            <a:endParaRPr sz="600" b="0" spc="3">
              <a:solidFill>
                <a:srgbClr val="463E41"/>
              </a:solidFill>
              <a:latin typeface="Source Han Sans CN Normal"/>
              <a:cs typeface="Source Han Sans CN Normal"/>
              <a:ea typeface="Source Han Sans CN Normal"/>
            </a:endParaRPr>
          </a:p>
          <a:p>
            <a:pPr marL="0" indent="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463E41"/>
                </a:solidFill>
                <a:latin typeface="Source Han Sans CN Normal"/>
                <a:cs typeface="Source Han Sans CN Normal"/>
                <a:ea typeface="Source Han Sans CN Normal"/>
              </a:rPr>
              <a:t xml:space="preserve">system, successfully expanding to 18 stores </a:t>
            </a:r>
            <a:endParaRPr sz="600" b="0">
              <a:solidFill>
                <a:srgbClr val="463E41"/>
              </a:solidFill>
              <a:latin typeface="Source Han Sans CN Normal"/>
              <a:cs typeface="Source Han Sans CN Normal"/>
              <a:ea typeface="Source Han Sans CN Normal"/>
            </a:endParaRPr>
          </a:p>
          <a:p>
            <a:pPr marL="0" indent="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-11">
                <a:solidFill>
                  <a:srgbClr val="463E41"/>
                </a:solidFill>
                <a:latin typeface="Source Han Sans CN Normal"/>
                <a:cs typeface="Source Han Sans CN Normal"/>
                <a:ea typeface="Source Han Sans CN Normal"/>
              </a:rPr>
              <a:t xml:space="preserve">nationwide. In Malaysia, the brand simultaneously </a:t>
            </a:r>
            <a:endParaRPr sz="600" b="0" spc="-11">
              <a:solidFill>
                <a:srgbClr val="463E41"/>
              </a:solidFill>
              <a:latin typeface="Source Han Sans CN Normal"/>
              <a:cs typeface="Source Han Sans CN Normal"/>
              <a:ea typeface="Source Han Sans CN Normal"/>
            </a:endParaRPr>
          </a:p>
          <a:p>
            <a:pPr marL="0" indent="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2">
                <a:solidFill>
                  <a:srgbClr val="463E41"/>
                </a:solidFill>
                <a:latin typeface="Source Han Sans CN Normal"/>
                <a:cs typeface="Source Han Sans CN Normal"/>
                <a:ea typeface="Source Han Sans CN Normal"/>
              </a:rPr>
              <a:t xml:space="preserve">launched a new retail strategy, integrating both </a:t>
            </a:r>
            <a:endParaRPr sz="600" b="0" spc="2">
              <a:solidFill>
                <a:srgbClr val="463E41"/>
              </a:solidFill>
              <a:latin typeface="Source Han Sans CN Normal"/>
              <a:cs typeface="Source Han Sans CN Normal"/>
              <a:ea typeface="Source Han Sans CN Normal"/>
            </a:endParaRPr>
          </a:p>
          <a:p>
            <a:pPr marL="0" indent="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-13">
                <a:solidFill>
                  <a:srgbClr val="463E41"/>
                </a:solidFill>
                <a:latin typeface="Source Han Sans CN Normal"/>
                <a:cs typeface="Source Han Sans CN Normal"/>
                <a:ea typeface="Source Han Sans CN Normal"/>
              </a:rPr>
              <a:t>online and offline operations.</a:t>
            </a:r>
            <a:endParaRPr sz="600" b="0" spc="-13">
              <a:solidFill>
                <a:srgbClr val="463E41"/>
              </a:solidFill>
              <a:latin typeface="Source Han Sans CN Normal"/>
              <a:cs typeface="Source Han Sans CN Normal"/>
              <a:ea typeface="Source Han Sans CN Normal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062469" y="1302968"/>
            <a:ext cx="1924241" cy="807871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marL="0" indent="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-14">
                <a:solidFill>
                  <a:srgbClr val="463E41"/>
                </a:solidFill>
                <a:latin typeface="Source Han Sans CN Normal"/>
                <a:cs typeface="Source Han Sans CN Normal"/>
                <a:ea typeface="Source Han Sans CN Normal"/>
              </a:rPr>
              <a:t xml:space="preserve">2020: Strengthening International Presence — </a:t>
            </a:r>
            <a:endParaRPr sz="600" b="0" spc="-14">
              <a:solidFill>
                <a:srgbClr val="463E41"/>
              </a:solidFill>
              <a:latin typeface="Source Han Sans CN Normal"/>
              <a:cs typeface="Source Han Sans CN Normal"/>
              <a:ea typeface="Source Han Sans CN Normal"/>
            </a:endParaRPr>
          </a:p>
          <a:p>
            <a:pPr marL="0" indent="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3">
                <a:solidFill>
                  <a:srgbClr val="463E41"/>
                </a:solidFill>
                <a:latin typeface="Source Han Sans CN Normal"/>
                <a:cs typeface="Source Han Sans CN Normal"/>
                <a:ea typeface="Source Han Sans CN Normal"/>
              </a:rPr>
              <a:t xml:space="preserve">Opened an 11,000 sq ft international project </a:t>
            </a:r>
            <a:endParaRPr sz="600" b="0" spc="3">
              <a:solidFill>
                <a:srgbClr val="463E41"/>
              </a:solidFill>
              <a:latin typeface="Source Han Sans CN Normal"/>
              <a:cs typeface="Source Han Sans CN Normal"/>
              <a:ea typeface="Source Han Sans CN Normal"/>
            </a:endParaRPr>
          </a:p>
          <a:p>
            <a:pPr marL="0" indent="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-14">
                <a:solidFill>
                  <a:srgbClr val="463E41"/>
                </a:solidFill>
                <a:latin typeface="Source Han Sans CN Normal"/>
                <a:cs typeface="Source Han Sans CN Normal"/>
                <a:ea typeface="Source Han Sans CN Normal"/>
              </a:rPr>
              <a:t xml:space="preserve">showroom in Kuala Lumpur, and was invited to </a:t>
            </a:r>
            <a:endParaRPr sz="600" b="0" spc="-14">
              <a:solidFill>
                <a:srgbClr val="463E41"/>
              </a:solidFill>
              <a:latin typeface="Source Han Sans CN Normal"/>
              <a:cs typeface="Source Han Sans CN Normal"/>
              <a:ea typeface="Source Han Sans CN Normal"/>
            </a:endParaRPr>
          </a:p>
          <a:p>
            <a:pPr marL="0" indent="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-16">
                <a:solidFill>
                  <a:srgbClr val="463E41"/>
                </a:solidFill>
                <a:latin typeface="Source Han Sans CN Normal"/>
                <a:cs typeface="Source Han Sans CN Normal"/>
                <a:ea typeface="Source Han Sans CN Normal"/>
              </a:rPr>
              <a:t xml:space="preserve">exhibit at the China International Furniture Fair </a:t>
            </a:r>
            <a:endParaRPr sz="600" b="0" spc="-16">
              <a:solidFill>
                <a:srgbClr val="463E41"/>
              </a:solidFill>
              <a:latin typeface="Source Han Sans CN Normal"/>
              <a:cs typeface="Source Han Sans CN Normal"/>
              <a:ea typeface="Source Han Sans CN Normal"/>
            </a:endParaRPr>
          </a:p>
          <a:p>
            <a:pPr marL="0" indent="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-13">
                <a:solidFill>
                  <a:srgbClr val="463E41"/>
                </a:solidFill>
                <a:latin typeface="Source Han Sans CN Normal"/>
                <a:cs typeface="Source Han Sans CN Normal"/>
                <a:ea typeface="Source Han Sans CN Normal"/>
              </a:rPr>
              <a:t xml:space="preserve">Shanghai Design Hall, further enhancing the </a:t>
            </a:r>
            <a:endParaRPr sz="600" b="0" spc="-13">
              <a:solidFill>
                <a:srgbClr val="463E41"/>
              </a:solidFill>
              <a:latin typeface="Source Han Sans CN Normal"/>
              <a:cs typeface="Source Han Sans CN Normal"/>
              <a:ea typeface="Source Han Sans CN Normal"/>
            </a:endParaRPr>
          </a:p>
          <a:p>
            <a:pPr marL="0" indent="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-14">
                <a:solidFill>
                  <a:srgbClr val="463E41"/>
                </a:solidFill>
                <a:latin typeface="Source Han Sans CN Normal"/>
                <a:cs typeface="Source Han Sans CN Normal"/>
                <a:ea typeface="Source Han Sans CN Normal"/>
              </a:rPr>
              <a:t>brand’s influence within the design industry.</a:t>
            </a:r>
            <a:endParaRPr sz="600" b="0" spc="-14">
              <a:solidFill>
                <a:srgbClr val="463E41"/>
              </a:solidFill>
              <a:latin typeface="Source Han Sans CN Normal"/>
              <a:cs typeface="Source Han Sans CN Normal"/>
              <a:ea typeface="Source Han Sans CN Norm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28048" y="1415864"/>
            <a:ext cx="1653203" cy="680846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marL="0" indent="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-13">
                <a:solidFill>
                  <a:srgbClr val="463E41"/>
                </a:solidFill>
                <a:latin typeface="Source Han Sans CN Normal"/>
                <a:cs typeface="Source Han Sans CN Normal"/>
                <a:ea typeface="Source Han Sans CN Normal"/>
              </a:rPr>
              <a:t xml:space="preserve">2015: Brand Establishment — RICCIONE </a:t>
            </a:r>
            <a:endParaRPr sz="600" b="0" spc="-13">
              <a:solidFill>
                <a:srgbClr val="463E41"/>
              </a:solidFill>
              <a:latin typeface="Source Han Sans CN Normal"/>
              <a:cs typeface="Source Han Sans CN Normal"/>
              <a:ea typeface="Source Han Sans CN Normal"/>
            </a:endParaRPr>
          </a:p>
          <a:p>
            <a:pPr marL="0" indent="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-14">
                <a:solidFill>
                  <a:srgbClr val="463E41"/>
                </a:solidFill>
                <a:latin typeface="Source Han Sans CN Normal"/>
                <a:cs typeface="Source Han Sans CN Normal"/>
                <a:ea typeface="Source Han Sans CN Normal"/>
              </a:rPr>
              <a:t xml:space="preserve">Furniture was officially founded as a </a:t>
            </a:r>
            <a:endParaRPr sz="600" b="0" spc="-14">
              <a:solidFill>
                <a:srgbClr val="463E41"/>
              </a:solidFill>
              <a:latin typeface="Source Han Sans CN Normal"/>
              <a:cs typeface="Source Han Sans CN Normal"/>
              <a:ea typeface="Source Han Sans CN Normal"/>
            </a:endParaRPr>
          </a:p>
          <a:p>
            <a:pPr marL="0" indent="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-14">
                <a:solidFill>
                  <a:srgbClr val="463E41"/>
                </a:solidFill>
                <a:latin typeface="Source Han Sans CN Normal"/>
                <a:cs typeface="Source Han Sans CN Normal"/>
                <a:ea typeface="Source Han Sans CN Normal"/>
              </a:rPr>
              <a:t xml:space="preserve">Malaysian furniture brand, embarking on </a:t>
            </a:r>
            <a:endParaRPr sz="600" b="0" spc="-14">
              <a:solidFill>
                <a:srgbClr val="463E41"/>
              </a:solidFill>
              <a:latin typeface="Source Han Sans CN Normal"/>
              <a:cs typeface="Source Han Sans CN Normal"/>
              <a:ea typeface="Source Han Sans CN Normal"/>
            </a:endParaRPr>
          </a:p>
          <a:p>
            <a:pPr marL="0" indent="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-13">
                <a:solidFill>
                  <a:srgbClr val="463E41"/>
                </a:solidFill>
                <a:latin typeface="Source Han Sans CN Normal"/>
                <a:cs typeface="Source Han Sans CN Normal"/>
                <a:ea typeface="Source Han Sans CN Normal"/>
              </a:rPr>
              <a:t xml:space="preserve">the journey of building a solid wood </a:t>
            </a:r>
            <a:endParaRPr sz="600" b="0" spc="-13">
              <a:solidFill>
                <a:srgbClr val="463E41"/>
              </a:solidFill>
              <a:latin typeface="Source Han Sans CN Normal"/>
              <a:cs typeface="Source Han Sans CN Normal"/>
              <a:ea typeface="Source Han Sans CN Normal"/>
            </a:endParaRPr>
          </a:p>
          <a:p>
            <a:pPr marL="0" indent="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-18">
                <a:solidFill>
                  <a:srgbClr val="463E41"/>
                </a:solidFill>
                <a:latin typeface="Source Han Sans CN Normal"/>
                <a:cs typeface="Source Han Sans CN Normal"/>
                <a:ea typeface="Source Han Sans CN Normal"/>
              </a:rPr>
              <a:t>furniture brand identity.</a:t>
            </a:r>
            <a:endParaRPr sz="600" b="0" spc="-18">
              <a:solidFill>
                <a:srgbClr val="463E41"/>
              </a:solidFill>
              <a:latin typeface="Source Han Sans CN Normal"/>
              <a:cs typeface="Source Han Sans CN Normal"/>
              <a:ea typeface="Source Han Sans CN Norm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243832" y="1423618"/>
            <a:ext cx="1760313" cy="680846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marL="0" indent="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-18">
                <a:solidFill>
                  <a:srgbClr val="463E41"/>
                </a:solidFill>
                <a:latin typeface="Source Han Sans CN Normal"/>
                <a:cs typeface="Source Han Sans CN Normal"/>
                <a:ea typeface="Source Han Sans CN Normal"/>
              </a:rPr>
              <a:t xml:space="preserve">2018: Expanding Across China — Actively </a:t>
            </a:r>
            <a:endParaRPr sz="600" b="0" spc="-18">
              <a:solidFill>
                <a:srgbClr val="463E41"/>
              </a:solidFill>
              <a:latin typeface="Source Han Sans CN Normal"/>
              <a:cs typeface="Source Han Sans CN Normal"/>
              <a:ea typeface="Source Han Sans CN Normal"/>
            </a:endParaRPr>
          </a:p>
          <a:p>
            <a:pPr marL="0" indent="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-13">
                <a:solidFill>
                  <a:srgbClr val="463E41"/>
                </a:solidFill>
                <a:latin typeface="Source Han Sans CN Normal"/>
                <a:cs typeface="Source Han Sans CN Normal"/>
                <a:ea typeface="Source Han Sans CN Normal"/>
              </a:rPr>
              <a:t xml:space="preserve">participated in major furniture exhibitions </a:t>
            </a:r>
            <a:endParaRPr sz="600" b="0" spc="-13">
              <a:solidFill>
                <a:srgbClr val="463E41"/>
              </a:solidFill>
              <a:latin typeface="Source Han Sans CN Normal"/>
              <a:cs typeface="Source Han Sans CN Normal"/>
              <a:ea typeface="Source Han Sans CN Normal"/>
            </a:endParaRPr>
          </a:p>
          <a:p>
            <a:pPr marL="0" indent="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1">
                <a:solidFill>
                  <a:srgbClr val="463E41"/>
                </a:solidFill>
                <a:latin typeface="Source Han Sans CN Normal"/>
                <a:cs typeface="Source Han Sans CN Normal"/>
                <a:ea typeface="Source Han Sans CN Normal"/>
              </a:rPr>
              <a:t xml:space="preserve">across China, exporting over 600 containers </a:t>
            </a:r>
            <a:endParaRPr sz="600" b="0" spc="1">
              <a:solidFill>
                <a:srgbClr val="463E41"/>
              </a:solidFill>
              <a:latin typeface="Source Han Sans CN Normal"/>
              <a:cs typeface="Source Han Sans CN Normal"/>
              <a:ea typeface="Source Han Sans CN Normal"/>
            </a:endParaRPr>
          </a:p>
          <a:p>
            <a:pPr marL="0" indent="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-13">
                <a:solidFill>
                  <a:srgbClr val="463E41"/>
                </a:solidFill>
                <a:latin typeface="Source Han Sans CN Normal"/>
                <a:cs typeface="Source Han Sans CN Normal"/>
                <a:ea typeface="Source Han Sans CN Normal"/>
              </a:rPr>
              <a:t xml:space="preserve">to the Chinese market and building a </a:t>
            </a:r>
            <a:endParaRPr sz="600" b="0" spc="-13">
              <a:solidFill>
                <a:srgbClr val="463E41"/>
              </a:solidFill>
              <a:latin typeface="Source Han Sans CN Normal"/>
              <a:cs typeface="Source Han Sans CN Normal"/>
              <a:ea typeface="Source Han Sans CN Normal"/>
            </a:endParaRPr>
          </a:p>
          <a:p>
            <a:pPr marL="0" indent="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3">
                <a:solidFill>
                  <a:srgbClr val="463E41"/>
                </a:solidFill>
                <a:latin typeface="Source Han Sans CN Normal"/>
                <a:cs typeface="Source Han Sans CN Normal"/>
                <a:ea typeface="Source Han Sans CN Normal"/>
              </a:rPr>
              <a:t>distributor network of nearly 1,000 dealers.</a:t>
            </a:r>
            <a:endParaRPr sz="600" b="0" spc="3">
              <a:solidFill>
                <a:srgbClr val="463E41"/>
              </a:solidFill>
              <a:latin typeface="Source Han Sans CN Normal"/>
              <a:cs typeface="Source Han Sans CN Normal"/>
              <a:ea typeface="Source Han Sans CN Normal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28048" y="2171234"/>
            <a:ext cx="1645641" cy="426796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marL="0" indent="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-20">
                <a:solidFill>
                  <a:srgbClr val="463E41"/>
                </a:solidFill>
                <a:latin typeface="youyou-yisong"/>
                <a:cs typeface="youyou-yisong"/>
                <a:ea typeface="youyou-yisong"/>
              </a:rPr>
              <a:t>2015：品牌成立 ―― Riccione Furniture 正</a:t>
            </a:r>
            <a:endParaRPr sz="600" b="0" spc="-20">
              <a:solidFill>
                <a:srgbClr val="463E41"/>
              </a:solidFill>
              <a:latin typeface="youyou-yisong"/>
              <a:cs typeface="youyou-yisong"/>
              <a:ea typeface="youyou-yisong"/>
            </a:endParaRPr>
          </a:p>
          <a:p>
            <a:pPr marL="0" indent="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6">
                <a:solidFill>
                  <a:srgbClr val="463E41"/>
                </a:solidFill>
                <a:latin typeface="youyou-yisong"/>
                <a:cs typeface="youyou-yisong"/>
                <a:ea typeface="youyou-yisong"/>
              </a:rPr>
              <a:t>式成立为马来西亚家具品牌，开启实木家具</a:t>
            </a:r>
            <a:endParaRPr sz="600" b="0" spc="6">
              <a:solidFill>
                <a:srgbClr val="463E41"/>
              </a:solidFill>
              <a:latin typeface="youyou-yisong"/>
              <a:cs typeface="youyou-yisong"/>
              <a:ea typeface="youyou-yisong"/>
            </a:endParaRPr>
          </a:p>
          <a:p>
            <a:pPr marL="0" indent="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6">
                <a:solidFill>
                  <a:srgbClr val="463E41"/>
                </a:solidFill>
                <a:latin typeface="youyou-yisong"/>
                <a:cs typeface="youyou-yisong"/>
                <a:ea typeface="youyou-yisong"/>
              </a:rPr>
              <a:t>品牌化发展之路。</a:t>
            </a:r>
            <a:endParaRPr sz="600" b="0" spc="6">
              <a:solidFill>
                <a:srgbClr val="463E41"/>
              </a:solidFill>
              <a:latin typeface="youyou-yisong"/>
              <a:cs typeface="youyou-yisong"/>
              <a:ea typeface="youyou-yisong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243832" y="2178987"/>
            <a:ext cx="1821322" cy="426796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marL="0" indent="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6">
                <a:solidFill>
                  <a:srgbClr val="463E41"/>
                </a:solidFill>
                <a:latin typeface="youyou-yisong"/>
                <a:cs typeface="youyou-yisong"/>
                <a:ea typeface="youyou-yisong"/>
              </a:rPr>
              <a:t>2018：拓展中国市场版图 ―― 积极参与中国各</a:t>
            </a:r>
            <a:endParaRPr sz="600" b="0" spc="6">
              <a:solidFill>
                <a:srgbClr val="463E41"/>
              </a:solidFill>
              <a:latin typeface="youyou-yisong"/>
              <a:cs typeface="youyou-yisong"/>
              <a:ea typeface="youyou-yisong"/>
            </a:endParaRPr>
          </a:p>
          <a:p>
            <a:pPr marL="0" indent="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6">
                <a:solidFill>
                  <a:srgbClr val="463E41"/>
                </a:solidFill>
                <a:latin typeface="youyou-yisong"/>
                <a:cs typeface="youyou-yisong"/>
                <a:ea typeface="youyou-yisong"/>
              </a:rPr>
              <a:t>大家具展会，累计出口超过 600 个集装箱至中国</a:t>
            </a:r>
            <a:endParaRPr sz="600" b="0" spc="6">
              <a:solidFill>
                <a:srgbClr val="463E41"/>
              </a:solidFill>
              <a:latin typeface="youyou-yisong"/>
              <a:cs typeface="youyou-yisong"/>
              <a:ea typeface="youyou-yisong"/>
            </a:endParaRPr>
          </a:p>
          <a:p>
            <a:pPr marL="0" indent="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6">
                <a:solidFill>
                  <a:srgbClr val="463E41"/>
                </a:solidFill>
                <a:latin typeface="youyou-yisong"/>
                <a:cs typeface="youyou-yisong"/>
                <a:ea typeface="youyou-yisong"/>
              </a:rPr>
              <a:t>，并建立起近 1,000 家经销商网络。</a:t>
            </a:r>
            <a:endParaRPr sz="600" b="0" spc="6">
              <a:solidFill>
                <a:srgbClr val="463E41"/>
              </a:solidFill>
              <a:latin typeface="youyou-yisong"/>
              <a:cs typeface="youyou-yisong"/>
              <a:ea typeface="youyou-yisong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049362" y="2180124"/>
            <a:ext cx="2123436" cy="553821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marL="0" indent="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5">
                <a:solidFill>
                  <a:srgbClr val="463E41"/>
                </a:solidFill>
                <a:latin typeface="youyou-yisong"/>
                <a:cs typeface="youyou-yisong"/>
                <a:ea typeface="youyou-yisong"/>
              </a:rPr>
              <a:t>2024：中马双市场战略升级 ―― 中国市场从传统批发模</a:t>
            </a:r>
            <a:endParaRPr sz="600" b="0" spc="5">
              <a:solidFill>
                <a:srgbClr val="463E41"/>
              </a:solidFill>
              <a:latin typeface="youyou-yisong"/>
              <a:cs typeface="youyou-yisong"/>
              <a:ea typeface="youyou-yisong"/>
            </a:endParaRPr>
          </a:p>
          <a:p>
            <a:pPr marL="0" indent="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6">
                <a:solidFill>
                  <a:srgbClr val="463E41"/>
                </a:solidFill>
                <a:latin typeface="youyou-yisong"/>
                <a:cs typeface="youyou-yisong"/>
                <a:ea typeface="youyou-yisong"/>
              </a:rPr>
              <a:t>式全面迭代至品牌专卖体系，成功拓展 18 家门店；马来</a:t>
            </a:r>
            <a:endParaRPr sz="600" b="0" spc="6">
              <a:solidFill>
                <a:srgbClr val="463E41"/>
              </a:solidFill>
              <a:latin typeface="youyou-yisong"/>
              <a:cs typeface="youyou-yisong"/>
              <a:ea typeface="youyou-yisong"/>
            </a:endParaRPr>
          </a:p>
          <a:p>
            <a:pPr marL="0" indent="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6">
                <a:solidFill>
                  <a:srgbClr val="463E41"/>
                </a:solidFill>
                <a:latin typeface="youyou-yisong"/>
                <a:cs typeface="youyou-yisong"/>
                <a:ea typeface="youyou-yisong"/>
              </a:rPr>
              <a:t>西亚市场同步开启新零售模式，实现线上线下一体化运</a:t>
            </a:r>
            <a:endParaRPr sz="600" b="0" spc="6">
              <a:solidFill>
                <a:srgbClr val="463E41"/>
              </a:solidFill>
              <a:latin typeface="youyou-yisong"/>
              <a:cs typeface="youyou-yisong"/>
              <a:ea typeface="youyou-yisong"/>
            </a:endParaRPr>
          </a:p>
          <a:p>
            <a:pPr marL="0" indent="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463E41"/>
                </a:solidFill>
                <a:latin typeface="youyou-yisong"/>
                <a:cs typeface="youyou-yisong"/>
                <a:ea typeface="youyou-yisong"/>
              </a:rPr>
              <a:t>营。</a:t>
            </a:r>
            <a:endParaRPr sz="600" b="0">
              <a:solidFill>
                <a:srgbClr val="463E41"/>
              </a:solidFill>
              <a:latin typeface="youyou-yisong"/>
              <a:cs typeface="youyou-yisong"/>
              <a:ea typeface="youyou-yisong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062469" y="2185363"/>
            <a:ext cx="1904369" cy="426796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marL="0" indent="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463E41"/>
                </a:solidFill>
                <a:latin typeface="youyou-yisong"/>
                <a:cs typeface="youyou-yisong"/>
                <a:ea typeface="youyou-yisong"/>
              </a:rPr>
              <a:t>2020：强化国际布局 ―― 吉隆坡 11,000 平方尺国</a:t>
            </a:r>
            <a:endParaRPr sz="600" b="0">
              <a:solidFill>
                <a:srgbClr val="463E41"/>
              </a:solidFill>
              <a:latin typeface="youyou-yisong"/>
              <a:cs typeface="youyou-yisong"/>
              <a:ea typeface="youyou-yisong"/>
            </a:endParaRPr>
          </a:p>
          <a:p>
            <a:pPr marL="0" indent="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6">
                <a:solidFill>
                  <a:srgbClr val="463E41"/>
                </a:solidFill>
                <a:latin typeface="youyou-yisong"/>
                <a:cs typeface="youyou-yisong"/>
                <a:ea typeface="youyou-yisong"/>
              </a:rPr>
              <a:t>际工程展厅正式落成，同年受邀参展 CIFF 上海设</a:t>
            </a:r>
            <a:endParaRPr sz="600" b="0" spc="6">
              <a:solidFill>
                <a:srgbClr val="463E41"/>
              </a:solidFill>
              <a:latin typeface="youyou-yisong"/>
              <a:cs typeface="youyou-yisong"/>
              <a:ea typeface="youyou-yisong"/>
            </a:endParaRPr>
          </a:p>
          <a:p>
            <a:pPr marL="0" indent="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6">
                <a:solidFill>
                  <a:srgbClr val="463E41"/>
                </a:solidFill>
                <a:latin typeface="youyou-yisong"/>
                <a:cs typeface="youyou-yisong"/>
                <a:ea typeface="youyou-yisong"/>
              </a:rPr>
              <a:t>计馆，进一步提升品牌在设计领域的影响力。</a:t>
            </a:r>
            <a:endParaRPr sz="600" b="0" spc="6">
              <a:solidFill>
                <a:srgbClr val="463E41"/>
              </a:solidFill>
              <a:latin typeface="youyou-yisong"/>
              <a:cs typeface="youyou-yisong"/>
              <a:ea typeface="youyou-yisong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238232" y="2659471"/>
            <a:ext cx="1201417" cy="571499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marL="0" indent="0" algn="l">
              <a:lnSpc>
                <a:spcPts val="3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spc="50">
                <a:solidFill>
                  <a:srgbClr val="463E41"/>
                </a:solidFill>
                <a:latin typeface="Sabon LT Std"/>
                <a:cs typeface="Sabon LT Std"/>
                <a:ea typeface="Sabon LT Std"/>
              </a:rPr>
              <a:t>2018</a:t>
            </a:r>
            <a:endParaRPr sz="2500" b="1" spc="50">
              <a:solidFill>
                <a:srgbClr val="463E41"/>
              </a:solidFill>
              <a:latin typeface="Sabon LT Std"/>
              <a:cs typeface="Sabon LT Std"/>
              <a:ea typeface="Sabon LT Std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043774" y="2668297"/>
            <a:ext cx="1201418" cy="571499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marL="0" indent="0" algn="l">
              <a:lnSpc>
                <a:spcPts val="3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spc="50">
                <a:solidFill>
                  <a:srgbClr val="463E41"/>
                </a:solidFill>
                <a:latin typeface="Sabon LT Std"/>
                <a:cs typeface="Sabon LT Std"/>
                <a:ea typeface="Sabon LT Std"/>
              </a:rPr>
              <a:t>2024</a:t>
            </a:r>
            <a:endParaRPr sz="2500" b="1" spc="50">
              <a:solidFill>
                <a:srgbClr val="463E41"/>
              </a:solidFill>
              <a:latin typeface="Sabon LT Std"/>
              <a:cs typeface="Sabon LT Std"/>
              <a:ea typeface="Sabon LT Std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056881" y="2670602"/>
            <a:ext cx="1201417" cy="571499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marL="0" indent="0" algn="l">
              <a:lnSpc>
                <a:spcPts val="3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spc="50">
                <a:solidFill>
                  <a:srgbClr val="463E41"/>
                </a:solidFill>
                <a:latin typeface="Sabon LT Std"/>
                <a:cs typeface="Sabon LT Std"/>
                <a:ea typeface="Sabon LT Std"/>
              </a:rPr>
              <a:t>2020</a:t>
            </a:r>
            <a:endParaRPr sz="2500" b="1" spc="50">
              <a:solidFill>
                <a:srgbClr val="463E41"/>
              </a:solidFill>
              <a:latin typeface="Sabon LT Std"/>
              <a:cs typeface="Sabon LT Std"/>
              <a:ea typeface="Sabon LT Std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22447" y="2681309"/>
            <a:ext cx="1201417" cy="571499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marL="0" indent="0" algn="l">
              <a:lnSpc>
                <a:spcPts val="3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spc="50">
                <a:solidFill>
                  <a:srgbClr val="463E41"/>
                </a:solidFill>
                <a:latin typeface="Sabon LT Std"/>
                <a:cs typeface="Sabon LT Std"/>
                <a:ea typeface="Sabon LT Std"/>
              </a:rPr>
              <a:t>2015</a:t>
            </a:r>
            <a:endParaRPr sz="2500" b="1" spc="50">
              <a:solidFill>
                <a:srgbClr val="463E41"/>
              </a:solidFill>
              <a:latin typeface="Sabon LT Std"/>
              <a:cs typeface="Sabon LT Std"/>
              <a:ea typeface="Sabon LT Std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891788" y="4317388"/>
            <a:ext cx="1201417" cy="571499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marL="0" indent="0" algn="l">
              <a:lnSpc>
                <a:spcPts val="3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spc="50">
                <a:solidFill>
                  <a:srgbClr val="463E41"/>
                </a:solidFill>
                <a:latin typeface="Sabon LT Std"/>
                <a:cs typeface="Sabon LT Std"/>
                <a:ea typeface="Sabon LT Std"/>
              </a:rPr>
              <a:t>2017</a:t>
            </a:r>
            <a:endParaRPr sz="2500" b="1" spc="50">
              <a:solidFill>
                <a:srgbClr val="463E41"/>
              </a:solidFill>
              <a:latin typeface="Sabon LT Std"/>
              <a:cs typeface="Sabon LT Std"/>
              <a:ea typeface="Sabon LT Std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451961" y="4317484"/>
            <a:ext cx="1201418" cy="571499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marL="0" indent="0" algn="l">
              <a:lnSpc>
                <a:spcPts val="3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spc="50">
                <a:solidFill>
                  <a:srgbClr val="463E41"/>
                </a:solidFill>
                <a:latin typeface="Sabon LT Std"/>
                <a:cs typeface="Sabon LT Std"/>
                <a:ea typeface="Sabon LT Std"/>
              </a:rPr>
              <a:t>2022</a:t>
            </a:r>
            <a:endParaRPr sz="2500" b="1" spc="50">
              <a:solidFill>
                <a:srgbClr val="463E41"/>
              </a:solidFill>
              <a:latin typeface="Sabon LT Std"/>
              <a:cs typeface="Sabon LT Std"/>
              <a:ea typeface="Sabon LT Std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0300880" y="4317484"/>
            <a:ext cx="1201418" cy="571499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marL="0" indent="0" algn="l">
              <a:lnSpc>
                <a:spcPts val="3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spc="50">
                <a:solidFill>
                  <a:srgbClr val="463E41"/>
                </a:solidFill>
                <a:latin typeface="Sabon LT Std"/>
                <a:cs typeface="Sabon LT Std"/>
                <a:ea typeface="Sabon LT Std"/>
              </a:rPr>
              <a:t>2025</a:t>
            </a:r>
            <a:endParaRPr sz="2500" b="1" spc="50">
              <a:solidFill>
                <a:srgbClr val="463E41"/>
              </a:solidFill>
              <a:latin typeface="Sabon LT Std"/>
              <a:cs typeface="Sabon LT Std"/>
              <a:ea typeface="Sabon LT Std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744219" y="4323834"/>
            <a:ext cx="1201417" cy="571499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marL="0" indent="0" algn="l">
              <a:lnSpc>
                <a:spcPts val="3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spc="50">
                <a:solidFill>
                  <a:srgbClr val="463E41"/>
                </a:solidFill>
                <a:latin typeface="Sabon LT Std"/>
                <a:cs typeface="Sabon LT Std"/>
                <a:ea typeface="Sabon LT Std"/>
              </a:rPr>
              <a:t>2019</a:t>
            </a:r>
            <a:endParaRPr sz="2500" b="1" spc="50">
              <a:solidFill>
                <a:srgbClr val="463E41"/>
              </a:solidFill>
              <a:latin typeface="Sabon LT Std"/>
              <a:cs typeface="Sabon LT Std"/>
              <a:ea typeface="Sabon LT Std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885421" y="4758522"/>
            <a:ext cx="1646111" cy="680846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marL="0" indent="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-18">
                <a:solidFill>
                  <a:srgbClr val="463E41"/>
                </a:solidFill>
                <a:latin typeface="Source Han Sans CN Normal"/>
                <a:cs typeface="Source Han Sans CN Normal"/>
                <a:ea typeface="Source Han Sans CN Normal"/>
              </a:rPr>
              <a:t xml:space="preserve">2017: Entering the China Market — </a:t>
            </a:r>
            <a:endParaRPr sz="600" b="0" spc="-18">
              <a:solidFill>
                <a:srgbClr val="463E41"/>
              </a:solidFill>
              <a:latin typeface="Source Han Sans CN Normal"/>
              <a:cs typeface="Source Han Sans CN Normal"/>
              <a:ea typeface="Source Han Sans CN Normal"/>
            </a:endParaRPr>
          </a:p>
          <a:p>
            <a:pPr marL="0" indent="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-13">
                <a:solidFill>
                  <a:srgbClr val="463E41"/>
                </a:solidFill>
                <a:latin typeface="Source Han Sans CN Normal"/>
                <a:cs typeface="Source Han Sans CN Normal"/>
                <a:ea typeface="Source Han Sans CN Normal"/>
              </a:rPr>
              <a:t xml:space="preserve">Established a 21,000 sq ft flagship </a:t>
            </a:r>
            <a:endParaRPr sz="600" b="0" spc="-13">
              <a:solidFill>
                <a:srgbClr val="463E41"/>
              </a:solidFill>
              <a:latin typeface="Source Han Sans CN Normal"/>
              <a:cs typeface="Source Han Sans CN Normal"/>
              <a:ea typeface="Source Han Sans CN Normal"/>
            </a:endParaRPr>
          </a:p>
          <a:p>
            <a:pPr marL="0" indent="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-14">
                <a:solidFill>
                  <a:srgbClr val="463E41"/>
                </a:solidFill>
                <a:latin typeface="Source Han Sans CN Normal"/>
                <a:cs typeface="Source Han Sans CN Normal"/>
                <a:ea typeface="Source Han Sans CN Normal"/>
              </a:rPr>
              <a:t xml:space="preserve">showroom in Foshan, China, and was </a:t>
            </a:r>
            <a:endParaRPr sz="600" b="0" spc="-14">
              <a:solidFill>
                <a:srgbClr val="463E41"/>
              </a:solidFill>
              <a:latin typeface="Source Han Sans CN Normal"/>
              <a:cs typeface="Source Han Sans CN Normal"/>
              <a:ea typeface="Source Han Sans CN Normal"/>
            </a:endParaRPr>
          </a:p>
          <a:p>
            <a:pPr marL="0" indent="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3">
                <a:solidFill>
                  <a:srgbClr val="463E41"/>
                </a:solidFill>
                <a:latin typeface="Source Han Sans CN Normal"/>
                <a:cs typeface="Source Han Sans CN Normal"/>
                <a:ea typeface="Source Han Sans CN Normal"/>
              </a:rPr>
              <a:t xml:space="preserve">awarded the Best Booth Design Award at </a:t>
            </a:r>
            <a:endParaRPr sz="600" b="0" spc="3">
              <a:solidFill>
                <a:srgbClr val="463E41"/>
              </a:solidFill>
              <a:latin typeface="Source Han Sans CN Normal"/>
              <a:cs typeface="Source Han Sans CN Normal"/>
              <a:ea typeface="Source Han Sans CN Normal"/>
            </a:endParaRPr>
          </a:p>
          <a:p>
            <a:pPr marL="0" indent="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-13">
                <a:solidFill>
                  <a:srgbClr val="463E41"/>
                </a:solidFill>
                <a:latin typeface="Source Han Sans CN Normal"/>
                <a:cs typeface="Source Han Sans CN Normal"/>
                <a:ea typeface="Source Han Sans CN Normal"/>
              </a:rPr>
              <a:t>ARCHIDEX Malaysia in the same year.</a:t>
            </a:r>
            <a:endParaRPr sz="600" b="0" spc="-13">
              <a:solidFill>
                <a:srgbClr val="463E41"/>
              </a:solidFill>
              <a:latin typeface="Source Han Sans CN Normal"/>
              <a:cs typeface="Source Han Sans CN Normal"/>
              <a:ea typeface="Source Han Sans CN Normal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445547" y="4758362"/>
            <a:ext cx="1868864" cy="680846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marL="0" indent="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-12">
                <a:solidFill>
                  <a:srgbClr val="463E41"/>
                </a:solidFill>
                <a:latin typeface="Source Han Sans CN Normal"/>
                <a:cs typeface="Source Han Sans CN Normal"/>
                <a:ea typeface="Source Han Sans CN Normal"/>
              </a:rPr>
              <a:t xml:space="preserve">2022: Expanding into Project Collaborations — </a:t>
            </a:r>
            <a:endParaRPr sz="600" b="0" spc="-12">
              <a:solidFill>
                <a:srgbClr val="463E41"/>
              </a:solidFill>
              <a:latin typeface="Source Han Sans CN Normal"/>
              <a:cs typeface="Source Han Sans CN Normal"/>
              <a:ea typeface="Source Han Sans CN Normal"/>
            </a:endParaRPr>
          </a:p>
          <a:p>
            <a:pPr marL="0" indent="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7">
                <a:solidFill>
                  <a:srgbClr val="463E41"/>
                </a:solidFill>
                <a:latin typeface="Source Han Sans CN Normal"/>
                <a:cs typeface="Source Han Sans CN Normal"/>
                <a:ea typeface="Source Han Sans CN Normal"/>
              </a:rPr>
              <a:t xml:space="preserve">Extended business into project-based </a:t>
            </a:r>
            <a:endParaRPr sz="600" b="0" spc="7">
              <a:solidFill>
                <a:srgbClr val="463E41"/>
              </a:solidFill>
              <a:latin typeface="Source Han Sans CN Normal"/>
              <a:cs typeface="Source Han Sans CN Normal"/>
              <a:ea typeface="Source Han Sans CN Normal"/>
            </a:endParaRPr>
          </a:p>
          <a:p>
            <a:pPr marL="0" indent="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3">
                <a:solidFill>
                  <a:srgbClr val="463E41"/>
                </a:solidFill>
                <a:latin typeface="Source Han Sans CN Normal"/>
                <a:cs typeface="Source Han Sans CN Normal"/>
                <a:ea typeface="Source Han Sans CN Normal"/>
              </a:rPr>
              <a:t xml:space="preserve">developments, serving residential, hospitality, </a:t>
            </a:r>
            <a:endParaRPr sz="600" b="0" spc="3">
              <a:solidFill>
                <a:srgbClr val="463E41"/>
              </a:solidFill>
              <a:latin typeface="Source Han Sans CN Normal"/>
              <a:cs typeface="Source Han Sans CN Normal"/>
              <a:ea typeface="Source Han Sans CN Normal"/>
            </a:endParaRPr>
          </a:p>
          <a:p>
            <a:pPr marL="0" indent="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463E41"/>
                </a:solidFill>
                <a:latin typeface="Source Han Sans CN Normal"/>
                <a:cs typeface="Source Han Sans CN Normal"/>
                <a:ea typeface="Source Han Sans CN Normal"/>
              </a:rPr>
              <a:t xml:space="preserve">and commercial spaces, marking a new phase </a:t>
            </a:r>
            <a:endParaRPr sz="600" b="0">
              <a:solidFill>
                <a:srgbClr val="463E41"/>
              </a:solidFill>
              <a:latin typeface="Source Han Sans CN Normal"/>
              <a:cs typeface="Source Han Sans CN Normal"/>
              <a:ea typeface="Source Han Sans CN Normal"/>
            </a:endParaRPr>
          </a:p>
          <a:p>
            <a:pPr marL="0" indent="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-5">
                <a:solidFill>
                  <a:srgbClr val="463E41"/>
                </a:solidFill>
                <a:latin typeface="Source Han Sans CN Normal"/>
                <a:cs typeface="Source Han Sans CN Normal"/>
                <a:ea typeface="Source Han Sans CN Normal"/>
              </a:rPr>
              <a:t>of diversified brand growth.</a:t>
            </a:r>
            <a:endParaRPr sz="600" b="0" spc="-5">
              <a:solidFill>
                <a:srgbClr val="463E41"/>
              </a:solidFill>
              <a:latin typeface="Source Han Sans CN Normal"/>
              <a:cs typeface="Source Han Sans CN Normal"/>
              <a:ea typeface="Source Han Sans CN Normal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0294530" y="4758362"/>
            <a:ext cx="1699035" cy="807871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marL="0" indent="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-18">
                <a:solidFill>
                  <a:srgbClr val="463E41"/>
                </a:solidFill>
                <a:latin typeface="Source Han Sans CN Normal"/>
                <a:cs typeface="Source Han Sans CN Normal"/>
                <a:ea typeface="Source Han Sans CN Normal"/>
              </a:rPr>
              <a:t xml:space="preserve">2025: Expanding into High-End </a:t>
            </a:r>
            <a:endParaRPr sz="600" b="0" spc="-18">
              <a:solidFill>
                <a:srgbClr val="463E41"/>
              </a:solidFill>
              <a:latin typeface="Source Han Sans CN Normal"/>
              <a:cs typeface="Source Han Sans CN Normal"/>
              <a:ea typeface="Source Han Sans CN Normal"/>
            </a:endParaRPr>
          </a:p>
          <a:p>
            <a:pPr marL="0" indent="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-7">
                <a:solidFill>
                  <a:srgbClr val="463E41"/>
                </a:solidFill>
                <a:latin typeface="Source Han Sans CN Normal"/>
                <a:cs typeface="Source Han Sans CN Normal"/>
                <a:ea typeface="Source Han Sans CN Normal"/>
              </a:rPr>
              <a:t xml:space="preserve">Customization — Officially launched </a:t>
            </a:r>
            <a:endParaRPr sz="600" b="0" spc="-7">
              <a:solidFill>
                <a:srgbClr val="463E41"/>
              </a:solidFill>
              <a:latin typeface="Source Han Sans CN Normal"/>
              <a:cs typeface="Source Han Sans CN Normal"/>
              <a:ea typeface="Source Han Sans CN Normal"/>
            </a:endParaRPr>
          </a:p>
          <a:p>
            <a:pPr marL="0" indent="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-11">
                <a:solidFill>
                  <a:srgbClr val="463E41"/>
                </a:solidFill>
                <a:latin typeface="Source Han Sans CN Normal"/>
                <a:cs typeface="Source Han Sans CN Normal"/>
                <a:ea typeface="Source Han Sans CN Normal"/>
              </a:rPr>
              <a:t xml:space="preserve">RICCIONE REKA, the brand’s whole-house </a:t>
            </a:r>
            <a:endParaRPr sz="600" b="0" spc="-11">
              <a:solidFill>
                <a:srgbClr val="463E41"/>
              </a:solidFill>
              <a:latin typeface="Source Han Sans CN Normal"/>
              <a:cs typeface="Source Han Sans CN Normal"/>
              <a:ea typeface="Source Han Sans CN Normal"/>
            </a:endParaRPr>
          </a:p>
          <a:p>
            <a:pPr marL="0" indent="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463E41"/>
                </a:solidFill>
                <a:latin typeface="Source Han Sans CN Normal"/>
                <a:cs typeface="Source Han Sans CN Normal"/>
                <a:ea typeface="Source Han Sans CN Normal"/>
              </a:rPr>
              <a:t xml:space="preserve">customization division, and became the </a:t>
            </a:r>
            <a:endParaRPr sz="600" b="0">
              <a:solidFill>
                <a:srgbClr val="463E41"/>
              </a:solidFill>
              <a:latin typeface="Source Han Sans CN Normal"/>
              <a:cs typeface="Source Han Sans CN Normal"/>
              <a:ea typeface="Source Han Sans CN Normal"/>
            </a:endParaRPr>
          </a:p>
          <a:p>
            <a:pPr marL="0" indent="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-13">
                <a:solidFill>
                  <a:srgbClr val="463E41"/>
                </a:solidFill>
                <a:latin typeface="Source Han Sans CN Normal"/>
                <a:cs typeface="Source Han Sans CN Normal"/>
                <a:ea typeface="Source Han Sans CN Normal"/>
              </a:rPr>
              <a:t xml:space="preserve">Southeast Asia Exclusive Distributor for </a:t>
            </a:r>
            <a:endParaRPr sz="600" b="0" spc="-13">
              <a:solidFill>
                <a:srgbClr val="463E41"/>
              </a:solidFill>
              <a:latin typeface="Source Han Sans CN Normal"/>
              <a:cs typeface="Source Han Sans CN Normal"/>
              <a:ea typeface="Source Han Sans CN Normal"/>
            </a:endParaRPr>
          </a:p>
          <a:p>
            <a:pPr marL="0" indent="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463E41"/>
                </a:solidFill>
                <a:latin typeface="Source Han Sans CN Normal"/>
                <a:cs typeface="Source Han Sans CN Normal"/>
                <a:ea typeface="Source Han Sans CN Normal"/>
              </a:rPr>
              <a:t xml:space="preserve">the naturalist custom cabinetry brand </a:t>
            </a:r>
            <a:endParaRPr sz="600" b="0">
              <a:solidFill>
                <a:srgbClr val="463E41"/>
              </a:solidFill>
              <a:latin typeface="Source Han Sans CN Normal"/>
              <a:cs typeface="Source Han Sans CN Normal"/>
              <a:ea typeface="Source Han Sans CN Normal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737825" y="4764719"/>
            <a:ext cx="1784028" cy="934894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marL="0" indent="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-18">
                <a:solidFill>
                  <a:srgbClr val="463E41"/>
                </a:solidFill>
                <a:latin typeface="Source Han Sans CN Normal"/>
                <a:cs typeface="Source Han Sans CN Normal"/>
                <a:ea typeface="Source Han Sans CN Normal"/>
              </a:rPr>
              <a:t xml:space="preserve">2019: Stepping into the International Market </a:t>
            </a:r>
            <a:endParaRPr sz="600" b="0" spc="-18">
              <a:solidFill>
                <a:srgbClr val="463E41"/>
              </a:solidFill>
              <a:latin typeface="Source Han Sans CN Normal"/>
              <a:cs typeface="Source Han Sans CN Normal"/>
              <a:ea typeface="Source Han Sans CN Normal"/>
            </a:endParaRPr>
          </a:p>
          <a:p>
            <a:pPr marL="0" indent="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-6">
                <a:solidFill>
                  <a:srgbClr val="463E41"/>
                </a:solidFill>
                <a:latin typeface="Source Han Sans CN Normal"/>
                <a:cs typeface="Source Han Sans CN Normal"/>
                <a:ea typeface="Source Han Sans CN Normal"/>
              </a:rPr>
              <a:t xml:space="preserve">— Made its debut at China International </a:t>
            </a:r>
            <a:endParaRPr sz="600" b="0" spc="-6">
              <a:solidFill>
                <a:srgbClr val="463E41"/>
              </a:solidFill>
              <a:latin typeface="Source Han Sans CN Normal"/>
              <a:cs typeface="Source Han Sans CN Normal"/>
              <a:ea typeface="Source Han Sans CN Normal"/>
            </a:endParaRPr>
          </a:p>
          <a:p>
            <a:pPr marL="0" indent="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-14">
                <a:solidFill>
                  <a:srgbClr val="463E41"/>
                </a:solidFill>
                <a:latin typeface="Source Han Sans CN Normal"/>
                <a:cs typeface="Source Han Sans CN Normal"/>
                <a:ea typeface="Source Han Sans CN Normal"/>
              </a:rPr>
              <a:t xml:space="preserve">Furniture Fair Guangzhou, with products </a:t>
            </a:r>
            <a:endParaRPr sz="600" b="0" spc="-14">
              <a:solidFill>
                <a:srgbClr val="463E41"/>
              </a:solidFill>
              <a:latin typeface="Source Han Sans CN Normal"/>
              <a:cs typeface="Source Han Sans CN Normal"/>
              <a:ea typeface="Source Han Sans CN Normal"/>
            </a:endParaRPr>
          </a:p>
          <a:p>
            <a:pPr marL="0" indent="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7">
                <a:solidFill>
                  <a:srgbClr val="463E41"/>
                </a:solidFill>
                <a:latin typeface="Source Han Sans CN Normal"/>
                <a:cs typeface="Source Han Sans CN Normal"/>
                <a:ea typeface="Source Han Sans CN Normal"/>
              </a:rPr>
              <a:t xml:space="preserve">exported to Japan, Europe, and other </a:t>
            </a:r>
            <a:endParaRPr sz="600" b="0" spc="7">
              <a:solidFill>
                <a:srgbClr val="463E41"/>
              </a:solidFill>
              <a:latin typeface="Source Han Sans CN Normal"/>
              <a:cs typeface="Source Han Sans CN Normal"/>
              <a:ea typeface="Source Han Sans CN Normal"/>
            </a:endParaRPr>
          </a:p>
          <a:p>
            <a:pPr marL="0" indent="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-13">
                <a:solidFill>
                  <a:srgbClr val="463E41"/>
                </a:solidFill>
                <a:latin typeface="Source Han Sans CN Normal"/>
                <a:cs typeface="Source Han Sans CN Normal"/>
                <a:ea typeface="Source Han Sans CN Normal"/>
              </a:rPr>
              <a:t xml:space="preserve">international markets, while also receiving </a:t>
            </a:r>
            <a:endParaRPr sz="600" b="0" spc="-13">
              <a:solidFill>
                <a:srgbClr val="463E41"/>
              </a:solidFill>
              <a:latin typeface="Source Han Sans CN Normal"/>
              <a:cs typeface="Source Han Sans CN Normal"/>
              <a:ea typeface="Source Han Sans CN Normal"/>
            </a:endParaRPr>
          </a:p>
          <a:p>
            <a:pPr marL="0" indent="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-14">
                <a:solidFill>
                  <a:srgbClr val="463E41"/>
                </a:solidFill>
                <a:latin typeface="Source Han Sans CN Normal"/>
                <a:cs typeface="Source Han Sans CN Normal"/>
                <a:ea typeface="Source Han Sans CN Normal"/>
              </a:rPr>
              <a:t xml:space="preserve">the Foshan Best Furniture Design Award in </a:t>
            </a:r>
            <a:endParaRPr sz="600" b="0" spc="-14">
              <a:solidFill>
                <a:srgbClr val="463E41"/>
              </a:solidFill>
              <a:latin typeface="Source Han Sans CN Normal"/>
              <a:cs typeface="Source Han Sans CN Normal"/>
              <a:ea typeface="Source Han Sans CN Normal"/>
            </a:endParaRPr>
          </a:p>
          <a:p>
            <a:pPr marL="0" indent="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-5">
                <a:solidFill>
                  <a:srgbClr val="463E41"/>
                </a:solidFill>
                <a:latin typeface="Source Han Sans CN Normal"/>
                <a:cs typeface="Source Han Sans CN Normal"/>
                <a:ea typeface="Source Han Sans CN Normal"/>
              </a:rPr>
              <a:t>Guangdong, China.</a:t>
            </a:r>
            <a:endParaRPr sz="600" b="0" spc="-5">
              <a:solidFill>
                <a:srgbClr val="463E41"/>
              </a:solidFill>
              <a:latin typeface="Source Han Sans CN Normal"/>
              <a:cs typeface="Source Han Sans CN Normal"/>
              <a:ea typeface="Source Han Sans CN Normal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885421" y="5513891"/>
            <a:ext cx="1732990" cy="426795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marL="0" indent="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3">
                <a:solidFill>
                  <a:srgbClr val="463E41"/>
                </a:solidFill>
                <a:latin typeface="youyou-yisong"/>
                <a:cs typeface="youyou-yisong"/>
                <a:ea typeface="youyou-yisong"/>
              </a:rPr>
              <a:t xml:space="preserve">2017：进军中国市场 ―― 于佛山设立 21,000 </a:t>
            </a:r>
            <a:endParaRPr sz="600" b="0" spc="3">
              <a:solidFill>
                <a:srgbClr val="463E41"/>
              </a:solidFill>
              <a:latin typeface="youyou-yisong"/>
              <a:cs typeface="youyou-yisong"/>
              <a:ea typeface="youyou-yisong"/>
            </a:endParaRPr>
          </a:p>
          <a:p>
            <a:pPr marL="0" indent="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6">
                <a:solidFill>
                  <a:srgbClr val="463E41"/>
                </a:solidFill>
                <a:latin typeface="youyou-yisong"/>
                <a:cs typeface="youyou-yisong"/>
                <a:ea typeface="youyou-yisong"/>
              </a:rPr>
              <a:t xml:space="preserve">平方尺旗舰展厅，同年并荣获马来西亚 </a:t>
            </a:r>
            <a:endParaRPr sz="600" b="0" spc="6">
              <a:solidFill>
                <a:srgbClr val="463E41"/>
              </a:solidFill>
              <a:latin typeface="youyou-yisong"/>
              <a:cs typeface="youyou-yisong"/>
              <a:ea typeface="youyou-yisong"/>
            </a:endParaRPr>
          </a:p>
          <a:p>
            <a:pPr marL="0" indent="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463E41"/>
                </a:solidFill>
                <a:latin typeface="youyou-yisong"/>
                <a:cs typeface="youyou-yisong"/>
                <a:ea typeface="youyou-yisong"/>
              </a:rPr>
              <a:t>Archidex 最佳展位设计大奖。</a:t>
            </a:r>
            <a:endParaRPr sz="600" b="0">
              <a:solidFill>
                <a:srgbClr val="463E41"/>
              </a:solidFill>
              <a:latin typeface="youyou-yisong"/>
              <a:cs typeface="youyou-yisong"/>
              <a:ea typeface="youyou-yisong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445547" y="5513732"/>
            <a:ext cx="1861390" cy="426795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marL="0" indent="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4">
                <a:solidFill>
                  <a:srgbClr val="463E41"/>
                </a:solidFill>
                <a:latin typeface="youyou-yisong"/>
                <a:cs typeface="youyou-yisong"/>
                <a:ea typeface="youyou-yisong"/>
              </a:rPr>
              <a:t>2022：深化工程项目合作 ―― 拓展工程项目领域</a:t>
            </a:r>
            <a:endParaRPr sz="600" b="0" spc="4">
              <a:solidFill>
                <a:srgbClr val="463E41"/>
              </a:solidFill>
              <a:latin typeface="youyou-yisong"/>
              <a:cs typeface="youyou-yisong"/>
              <a:ea typeface="youyou-yisong"/>
            </a:endParaRPr>
          </a:p>
          <a:p>
            <a:pPr marL="0" indent="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6">
                <a:solidFill>
                  <a:srgbClr val="463E41"/>
                </a:solidFill>
                <a:latin typeface="youyou-yisong"/>
                <a:cs typeface="youyou-yisong"/>
                <a:ea typeface="youyou-yisong"/>
              </a:rPr>
              <a:t>，服务涵盖住宅、酒店及商业空间，开启品牌多</a:t>
            </a:r>
            <a:endParaRPr sz="600" b="0" spc="6">
              <a:solidFill>
                <a:srgbClr val="463E41"/>
              </a:solidFill>
              <a:latin typeface="youyou-yisong"/>
              <a:cs typeface="youyou-yisong"/>
              <a:ea typeface="youyou-yisong"/>
            </a:endParaRPr>
          </a:p>
          <a:p>
            <a:pPr marL="0" indent="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6">
                <a:solidFill>
                  <a:srgbClr val="463E41"/>
                </a:solidFill>
                <a:latin typeface="youyou-yisong"/>
                <a:cs typeface="youyou-yisong"/>
                <a:ea typeface="youyou-yisong"/>
              </a:rPr>
              <a:t>元化发展布局。</a:t>
            </a:r>
            <a:endParaRPr sz="600" b="0" spc="6">
              <a:solidFill>
                <a:srgbClr val="463E41"/>
              </a:solidFill>
              <a:latin typeface="youyou-yisong"/>
              <a:cs typeface="youyou-yisong"/>
              <a:ea typeface="youyou-yisong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0257421" y="5556099"/>
            <a:ext cx="1642539" cy="137160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marL="0" indent="0" algn="l">
              <a:lnSpc>
                <a:spcPts val="72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2">
                <a:solidFill>
                  <a:srgbClr val="463E41"/>
                </a:solidFill>
                <a:latin typeface="Source Han Sans CN Normal"/>
                <a:cs typeface="Source Han Sans CN Normal"/>
                <a:ea typeface="Source Han Sans CN Normal"/>
              </a:rPr>
              <a:t xml:space="preserve">“Sail”, further completing its integrated </a:t>
            </a:r>
            <a:endParaRPr sz="600" b="0" spc="2">
              <a:solidFill>
                <a:srgbClr val="463E41"/>
              </a:solidFill>
              <a:latin typeface="Source Han Sans CN Normal"/>
              <a:cs typeface="Source Han Sans CN Normal"/>
              <a:ea typeface="Source Han Sans CN Normal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0294530" y="5683124"/>
            <a:ext cx="948851" cy="137160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marL="0" indent="0" algn="l">
              <a:lnSpc>
                <a:spcPts val="72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463E41"/>
                </a:solidFill>
                <a:latin typeface="Source Han Sans CN Normal"/>
                <a:cs typeface="Source Han Sans CN Normal"/>
                <a:ea typeface="Source Han Sans CN Normal"/>
              </a:rPr>
              <a:t>living space ecosystem.</a:t>
            </a:r>
            <a:endParaRPr sz="600" b="0">
              <a:solidFill>
                <a:srgbClr val="463E41"/>
              </a:solidFill>
              <a:latin typeface="Source Han Sans CN Normal"/>
              <a:cs typeface="Source Han Sans CN Normal"/>
              <a:ea typeface="Source Han Sans CN Normal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4737825" y="5774138"/>
            <a:ext cx="1737984" cy="426796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marL="0" indent="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6">
                <a:solidFill>
                  <a:srgbClr val="463E41"/>
                </a:solidFill>
                <a:latin typeface="youyou-yisong"/>
                <a:cs typeface="youyou-yisong"/>
                <a:ea typeface="youyou-yisong"/>
              </a:rPr>
              <a:t>2019：迈向国际市场 ―― 首次亮相CIFF 广州</a:t>
            </a:r>
            <a:endParaRPr sz="600" b="0" spc="6">
              <a:solidFill>
                <a:srgbClr val="463E41"/>
              </a:solidFill>
              <a:latin typeface="youyou-yisong"/>
              <a:cs typeface="youyou-yisong"/>
              <a:ea typeface="youyou-yisong"/>
            </a:endParaRPr>
          </a:p>
          <a:p>
            <a:pPr marL="0" indent="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6">
                <a:solidFill>
                  <a:srgbClr val="463E41"/>
                </a:solidFill>
                <a:latin typeface="youyou-yisong"/>
                <a:cs typeface="youyou-yisong"/>
                <a:ea typeface="youyou-yisong"/>
              </a:rPr>
              <a:t>，产品远销日本、欧洲等国际市场，并荣获中</a:t>
            </a:r>
            <a:endParaRPr sz="600" b="0" spc="6">
              <a:solidFill>
                <a:srgbClr val="463E41"/>
              </a:solidFill>
              <a:latin typeface="youyou-yisong"/>
              <a:cs typeface="youyou-yisong"/>
              <a:ea typeface="youyou-yisong"/>
            </a:endParaRPr>
          </a:p>
          <a:p>
            <a:pPr marL="0" indent="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6">
                <a:solidFill>
                  <a:srgbClr val="463E41"/>
                </a:solidFill>
                <a:latin typeface="youyou-yisong"/>
                <a:cs typeface="youyou-yisong"/>
                <a:ea typeface="youyou-yisong"/>
              </a:rPr>
              <a:t>国广东佛山最佳家具设计奖。</a:t>
            </a:r>
            <a:endParaRPr sz="600" b="0" spc="6">
              <a:solidFill>
                <a:srgbClr val="463E41"/>
              </a:solidFill>
              <a:latin typeface="youyou-yisong"/>
              <a:cs typeface="youyou-yisong"/>
              <a:ea typeface="youyou-yisong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0294530" y="5894807"/>
            <a:ext cx="1672311" cy="553819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marL="0" indent="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6">
                <a:solidFill>
                  <a:srgbClr val="463E41"/>
                </a:solidFill>
                <a:latin typeface="youyou-yisong"/>
                <a:cs typeface="youyou-yisong"/>
                <a:ea typeface="youyou-yisong"/>
              </a:rPr>
              <a:t xml:space="preserve">2025：拓展高端定制版图 ―― 正式发展 </a:t>
            </a:r>
            <a:endParaRPr sz="600" b="0" spc="6">
              <a:solidFill>
                <a:srgbClr val="463E41"/>
              </a:solidFill>
              <a:latin typeface="youyou-yisong"/>
              <a:cs typeface="youyou-yisong"/>
              <a:ea typeface="youyou-yisong"/>
            </a:endParaRPr>
          </a:p>
          <a:p>
            <a:pPr marL="0" indent="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3">
                <a:solidFill>
                  <a:srgbClr val="463E41"/>
                </a:solidFill>
                <a:latin typeface="youyou-yisong"/>
                <a:cs typeface="youyou-yisong"/>
                <a:ea typeface="youyou-yisong"/>
              </a:rPr>
              <a:t>Riccione Reka 全屋定制业务，并以东南亚总</a:t>
            </a:r>
            <a:endParaRPr sz="600" b="0" spc="3">
              <a:solidFill>
                <a:srgbClr val="463E41"/>
              </a:solidFill>
              <a:latin typeface="youyou-yisong"/>
              <a:cs typeface="youyou-yisong"/>
              <a:ea typeface="youyou-yisong"/>
            </a:endParaRPr>
          </a:p>
          <a:p>
            <a:pPr marL="0" indent="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6">
                <a:solidFill>
                  <a:srgbClr val="463E41"/>
                </a:solidFill>
                <a:latin typeface="youyou-yisong"/>
                <a:cs typeface="youyou-yisong"/>
                <a:ea typeface="youyou-yisong"/>
              </a:rPr>
              <a:t>代理名义代理自然主义定制品牌「溪岸 Sail」</a:t>
            </a:r>
            <a:endParaRPr sz="600" b="0" spc="6">
              <a:solidFill>
                <a:srgbClr val="463E41"/>
              </a:solidFill>
              <a:latin typeface="youyou-yisong"/>
              <a:cs typeface="youyou-yisong"/>
              <a:ea typeface="youyou-yisong"/>
            </a:endParaRPr>
          </a:p>
          <a:p>
            <a:pPr marL="0" indent="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6">
                <a:solidFill>
                  <a:srgbClr val="463E41"/>
                </a:solidFill>
                <a:latin typeface="youyou-yisong"/>
                <a:cs typeface="youyou-yisong"/>
                <a:ea typeface="youyou-yisong"/>
              </a:rPr>
              <a:t>，进一步完善整体空间生态布局。</a:t>
            </a:r>
            <a:endParaRPr sz="600" b="0" spc="6">
              <a:solidFill>
                <a:srgbClr val="463E41"/>
              </a:solidFill>
              <a:latin typeface="youyou-yisong"/>
              <a:cs typeface="youyou-yisong"/>
              <a:ea typeface="youyou-yisong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 p7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"/>
            <a:ext cx="12191970" cy="685798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4109" y="534264"/>
            <a:ext cx="3633461" cy="571499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marL="0" indent="0" algn="l">
              <a:lnSpc>
                <a:spcPts val="3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spc="50">
                <a:solidFill>
                  <a:srgbClr val="100A0B"/>
                </a:solidFill>
                <a:latin typeface="Sabon LT Std"/>
                <a:cs typeface="Sabon LT Std"/>
                <a:ea typeface="Sabon LT Std"/>
              </a:rPr>
              <a:t>Service Coverage Area</a:t>
            </a:r>
            <a:endParaRPr sz="2500" b="1" spc="50">
              <a:solidFill>
                <a:srgbClr val="100A0B"/>
              </a:solidFill>
              <a:latin typeface="Sabon LT Std"/>
              <a:cs typeface="Sabon LT Std"/>
              <a:ea typeface="Sabon LT Std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17796" y="943953"/>
            <a:ext cx="872488" cy="285749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463E41"/>
                </a:solidFill>
                <a:latin typeface="youyou-yisong"/>
                <a:cs typeface="youyou-yisong"/>
                <a:ea typeface="youyou-yisong"/>
              </a:rPr>
              <a:t>服务地区</a:t>
            </a:r>
            <a:endParaRPr sz="1250" b="0">
              <a:solidFill>
                <a:srgbClr val="463E41"/>
              </a:solidFill>
              <a:latin typeface="youyou-yisong"/>
              <a:cs typeface="youyou-yisong"/>
              <a:ea typeface="youyou-yisong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16145" y="6189883"/>
            <a:ext cx="8974269" cy="285749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spc="6">
                <a:solidFill>
                  <a:srgbClr val="463E41"/>
                </a:solidFill>
                <a:latin typeface="Source Han Sans CN Normal"/>
                <a:cs typeface="Source Han Sans CN Normal"/>
                <a:ea typeface="Source Han Sans CN Normal"/>
              </a:rPr>
              <a:t>Export + Project + Retail  Country : Malaysia, China, Hong Kong, US, Canada, Japan, India, Thailand, Vietnam</a:t>
            </a:r>
            <a:endParaRPr sz="1250" b="0" spc="6">
              <a:solidFill>
                <a:srgbClr val="463E41"/>
              </a:solidFill>
              <a:latin typeface="Source Han Sans CN Normal"/>
              <a:cs typeface="Source Han Sans CN Normal"/>
              <a:ea typeface="Source Han Sans CN Norm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 p8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"/>
            <a:ext cx="12191970" cy="685798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67811" y="3254502"/>
            <a:ext cx="2435536" cy="571499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marL="0" indent="0" algn="l">
              <a:lnSpc>
                <a:spcPts val="3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spc="50">
                <a:solidFill>
                  <a:srgbClr val="1E1C18"/>
                </a:solidFill>
                <a:latin typeface="Sabon LT Std"/>
                <a:cs typeface="Sabon LT Std"/>
                <a:ea typeface="Sabon LT Std"/>
              </a:rPr>
              <a:t>Product DNA</a:t>
            </a:r>
            <a:endParaRPr sz="2500" b="1" spc="50">
              <a:solidFill>
                <a:srgbClr val="1E1C18"/>
              </a:solidFill>
              <a:latin typeface="Sabon LT Std"/>
              <a:cs typeface="Sabon LT Std"/>
              <a:ea typeface="Sabon LT Std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590093" y="3628377"/>
            <a:ext cx="1718147" cy="285749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31210"/>
                </a:solidFill>
                <a:latin typeface="youyou-yisong"/>
                <a:cs typeface="youyou-yisong"/>
                <a:ea typeface="youyou-yisong"/>
              </a:rPr>
              <a:t>瑞吉欧家具产品 DNA</a:t>
            </a:r>
            <a:endParaRPr sz="1250" b="0">
              <a:solidFill>
                <a:srgbClr val="131210"/>
              </a:solidFill>
              <a:latin typeface="youyou-yisong"/>
              <a:cs typeface="youyou-yisong"/>
              <a:ea typeface="youyou-yisong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595732" y="4110518"/>
            <a:ext cx="2091231" cy="561492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marL="0" indent="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-16">
                <a:solidFill>
                  <a:srgbClr val="463E41"/>
                </a:solidFill>
                <a:latin typeface="Source Han Sans CN Normal"/>
                <a:cs typeface="Source Han Sans CN Normal"/>
                <a:ea typeface="Source Han Sans CN Normal"/>
              </a:rPr>
              <a:t xml:space="preserve">RICCIONE Furniture believes that furniture is </a:t>
            </a:r>
            <a:endParaRPr sz="700" b="0" spc="-16">
              <a:solidFill>
                <a:srgbClr val="463E41"/>
              </a:solidFill>
              <a:latin typeface="Source Han Sans CN Normal"/>
              <a:cs typeface="Source Han Sans CN Normal"/>
              <a:ea typeface="Source Han Sans CN Normal"/>
            </a:endParaRPr>
          </a:p>
          <a:p>
            <a:pPr marL="0" indent="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3">
                <a:solidFill>
                  <a:srgbClr val="463E41"/>
                </a:solidFill>
                <a:latin typeface="Source Han Sans CN Normal"/>
                <a:cs typeface="Source Han Sans CN Normal"/>
                <a:ea typeface="Source Han Sans CN Normal"/>
              </a:rPr>
              <a:t>more than standalone pieces,</a:t>
            </a:r>
            <a:endParaRPr sz="700" b="0" spc="3">
              <a:solidFill>
                <a:srgbClr val="463E41"/>
              </a:solidFill>
              <a:latin typeface="Source Han Sans CN Normal"/>
              <a:cs typeface="Source Han Sans CN Normal"/>
              <a:ea typeface="Source Han Sans CN Normal"/>
            </a:endParaRPr>
          </a:p>
          <a:p>
            <a:pPr marL="0" indent="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63E41"/>
                </a:solidFill>
                <a:latin typeface="Source Han Sans CN Normal"/>
                <a:cs typeface="Source Han Sans CN Normal"/>
                <a:ea typeface="Source Han Sans CN Normal"/>
              </a:rPr>
              <a:t xml:space="preserve">but part of a living system designed to work </a:t>
            </a:r>
            <a:endParaRPr sz="700" b="0">
              <a:solidFill>
                <a:srgbClr val="463E41"/>
              </a:solidFill>
              <a:latin typeface="Source Han Sans CN Normal"/>
              <a:cs typeface="Source Han Sans CN Normal"/>
              <a:ea typeface="Source Han Sans CN Normal"/>
            </a:endParaRPr>
          </a:p>
          <a:p>
            <a:pPr marL="0" indent="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9">
                <a:solidFill>
                  <a:srgbClr val="463E41"/>
                </a:solidFill>
                <a:latin typeface="Source Han Sans CN Normal"/>
                <a:cs typeface="Source Han Sans CN Normal"/>
                <a:ea typeface="Source Han Sans CN Normal"/>
              </a:rPr>
              <a:t>together within a space.</a:t>
            </a:r>
            <a:endParaRPr sz="700" b="0" spc="9">
              <a:solidFill>
                <a:srgbClr val="463E41"/>
              </a:solidFill>
              <a:latin typeface="Source Han Sans CN Normal"/>
              <a:cs typeface="Source Han Sans CN Normal"/>
              <a:ea typeface="Source Han Sans CN Normal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897847" y="4032299"/>
            <a:ext cx="2116259" cy="400049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 spc="35">
                <a:solidFill>
                  <a:srgbClr val="1E1C18"/>
                </a:solidFill>
                <a:latin typeface="Sabon LT Std"/>
                <a:cs typeface="Sabon LT Std"/>
                <a:ea typeface="Sabon LT Std"/>
              </a:rPr>
              <a:t>Adaptable System</a:t>
            </a:r>
            <a:endParaRPr sz="1750" b="1" spc="35">
              <a:solidFill>
                <a:srgbClr val="1E1C18"/>
              </a:solidFill>
              <a:latin typeface="Sabon LT Std"/>
              <a:cs typeface="Sabon LT Std"/>
              <a:ea typeface="Sabon LT Std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650417" y="4034173"/>
            <a:ext cx="935892" cy="400049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 spc="35">
                <a:solidFill>
                  <a:srgbClr val="1E1C18"/>
                </a:solidFill>
                <a:latin typeface="Sabon LT Std"/>
                <a:cs typeface="Sabon LT Std"/>
                <a:ea typeface="Sabon LT Std"/>
              </a:rPr>
              <a:t>Detail</a:t>
            </a:r>
            <a:endParaRPr sz="1750" b="1" spc="35">
              <a:solidFill>
                <a:srgbClr val="1E1C18"/>
              </a:solidFill>
              <a:latin typeface="Sabon LT Std"/>
              <a:cs typeface="Sabon LT Std"/>
              <a:ea typeface="Sabon LT Std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081121" y="4039291"/>
            <a:ext cx="2264943" cy="400049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 spc="35">
                <a:solidFill>
                  <a:srgbClr val="1E1C18"/>
                </a:solidFill>
                <a:latin typeface="Sabon LT Std"/>
                <a:cs typeface="Sabon LT Std"/>
                <a:ea typeface="Sabon LT Std"/>
              </a:rPr>
              <a:t>Natural Inspiration</a:t>
            </a:r>
            <a:endParaRPr sz="1750" b="1" spc="35">
              <a:solidFill>
                <a:srgbClr val="1E1C18"/>
              </a:solidFill>
              <a:latin typeface="Sabon LT Std"/>
              <a:cs typeface="Sabon LT Std"/>
              <a:ea typeface="Sabon LT Std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897847" y="4298395"/>
            <a:ext cx="1027586" cy="285749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31210"/>
                </a:solidFill>
                <a:latin typeface="youyou-yisong"/>
                <a:cs typeface="youyou-yisong"/>
                <a:ea typeface="youyou-yisong"/>
              </a:rPr>
              <a:t>模块化系统</a:t>
            </a:r>
            <a:endParaRPr sz="1250" b="0">
              <a:solidFill>
                <a:srgbClr val="131210"/>
              </a:solidFill>
              <a:latin typeface="youyou-yisong"/>
              <a:cs typeface="youyou-yisong"/>
              <a:ea typeface="youyou-yisong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650424" y="4300281"/>
            <a:ext cx="554512" cy="285749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31210"/>
                </a:solidFill>
                <a:latin typeface="youyou-yisong"/>
                <a:cs typeface="youyou-yisong"/>
                <a:ea typeface="youyou-yisong"/>
              </a:rPr>
              <a:t>细节</a:t>
            </a:r>
            <a:endParaRPr sz="1250" b="0">
              <a:solidFill>
                <a:srgbClr val="131210"/>
              </a:solidFill>
              <a:latin typeface="youyou-yisong"/>
              <a:cs typeface="youyou-yisong"/>
              <a:ea typeface="youyou-yisong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081121" y="4305399"/>
            <a:ext cx="873123" cy="285749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31210"/>
                </a:solidFill>
                <a:latin typeface="youyou-yisong"/>
                <a:cs typeface="youyou-yisong"/>
                <a:ea typeface="youyou-yisong"/>
              </a:rPr>
              <a:t>自然灵感</a:t>
            </a:r>
            <a:endParaRPr sz="1250" b="0">
              <a:solidFill>
                <a:srgbClr val="131210"/>
              </a:solidFill>
              <a:latin typeface="youyou-yisong"/>
              <a:cs typeface="youyou-yisong"/>
              <a:ea typeface="youyou-yisong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081121" y="4723990"/>
            <a:ext cx="1805687" cy="160020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marL="0" indent="0" algn="l">
              <a:lnSpc>
                <a:spcPts val="84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463E41"/>
                </a:solidFill>
                <a:latin typeface="Source Han Sans CN Normal"/>
                <a:cs typeface="Source Han Sans CN Normal"/>
                <a:ea typeface="Source Han Sans CN Normal"/>
              </a:rPr>
              <a:t>I</a:t>
            </a:r>
            <a:r>
              <a:rPr sz="700" b="0" spc="-16">
                <a:solidFill>
                  <a:srgbClr val="463E41"/>
                </a:solidFill>
                <a:latin typeface="Source Han Sans CN Normal"/>
                <a:cs typeface="Source Han Sans CN Normal"/>
                <a:ea typeface="Source Han Sans CN Normal"/>
              </a:rPr>
              <a:t>nspired by nature and everyday living.</a:t>
            </a:r>
            <a:endParaRPr sz="700" b="0" spc="-16">
              <a:solidFill>
                <a:srgbClr val="463E41"/>
              </a:solidFill>
              <a:latin typeface="Source Han Sans CN Normal"/>
              <a:cs typeface="Source Han Sans CN Normal"/>
              <a:ea typeface="Source Han Sans CN Norm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650417" y="4731572"/>
            <a:ext cx="2056683" cy="160020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marL="0" indent="0" algn="l">
              <a:lnSpc>
                <a:spcPts val="84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4">
                <a:solidFill>
                  <a:srgbClr val="463E41"/>
                </a:solidFill>
                <a:latin typeface="Source Han Sans CN Normal"/>
                <a:cs typeface="Source Han Sans CN Normal"/>
                <a:ea typeface="Source Han Sans CN Normal"/>
              </a:rPr>
              <a:t>We pay attention to every detail in daily use.</a:t>
            </a:r>
            <a:endParaRPr sz="700" b="0" spc="4">
              <a:solidFill>
                <a:srgbClr val="463E41"/>
              </a:solidFill>
              <a:latin typeface="Source Han Sans CN Normal"/>
              <a:cs typeface="Source Han Sans CN Normal"/>
              <a:ea typeface="Source Han Sans CN Normal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897847" y="4715691"/>
            <a:ext cx="1994729" cy="561491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marL="0" indent="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-21">
                <a:solidFill>
                  <a:srgbClr val="463E41"/>
                </a:solidFill>
                <a:latin typeface="Source Han Sans CN Normal"/>
                <a:cs typeface="Source Han Sans CN Normal"/>
                <a:ea typeface="Source Han Sans CN Normal"/>
              </a:rPr>
              <a:t>With unified dimensions</a:t>
            </a:r>
            <a:endParaRPr sz="700" b="0" spc="-21">
              <a:solidFill>
                <a:srgbClr val="463E41"/>
              </a:solidFill>
              <a:latin typeface="Source Han Sans CN Normal"/>
              <a:cs typeface="Source Han Sans CN Normal"/>
              <a:ea typeface="Source Han Sans CN Normal"/>
            </a:endParaRPr>
          </a:p>
          <a:p>
            <a:pPr marL="0" indent="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-15">
                <a:solidFill>
                  <a:srgbClr val="463E41"/>
                </a:solidFill>
                <a:latin typeface="Source Han Sans CN Normal"/>
                <a:cs typeface="Source Han Sans CN Normal"/>
                <a:ea typeface="Source Han Sans CN Normal"/>
              </a:rPr>
              <a:t>and structural planning,</a:t>
            </a:r>
            <a:endParaRPr sz="700" b="0" spc="-15">
              <a:solidFill>
                <a:srgbClr val="463E41"/>
              </a:solidFill>
              <a:latin typeface="Source Han Sans CN Normal"/>
              <a:cs typeface="Source Han Sans CN Normal"/>
              <a:ea typeface="Source Han Sans CN Normal"/>
            </a:endParaRPr>
          </a:p>
          <a:p>
            <a:pPr marL="0" indent="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4">
                <a:solidFill>
                  <a:srgbClr val="463E41"/>
                </a:solidFill>
                <a:latin typeface="Source Han Sans CN Normal"/>
                <a:cs typeface="Source Han Sans CN Normal"/>
                <a:ea typeface="Source Han Sans CN Normal"/>
              </a:rPr>
              <a:t xml:space="preserve">different products can be freely mixed and </a:t>
            </a:r>
            <a:endParaRPr sz="700" b="0" spc="4">
              <a:solidFill>
                <a:srgbClr val="463E41"/>
              </a:solidFill>
              <a:latin typeface="Source Han Sans CN Normal"/>
              <a:cs typeface="Source Han Sans CN Normal"/>
              <a:ea typeface="Source Han Sans CN Normal"/>
            </a:endParaRPr>
          </a:p>
          <a:p>
            <a:pPr marL="0" indent="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63E41"/>
                </a:solidFill>
                <a:latin typeface="Source Han Sans CN Normal"/>
                <a:cs typeface="Source Han Sans CN Normal"/>
                <a:ea typeface="Source Han Sans CN Normal"/>
              </a:rPr>
              <a:t>matched for different spaces and lifestyles.</a:t>
            </a:r>
            <a:endParaRPr sz="700" b="0">
              <a:solidFill>
                <a:srgbClr val="463E41"/>
              </a:solidFill>
              <a:latin typeface="Source Han Sans CN Normal"/>
              <a:cs typeface="Source Han Sans CN Normal"/>
              <a:ea typeface="Source Han Sans CN Normal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595732" y="4745619"/>
            <a:ext cx="2117407" cy="561491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marL="0" indent="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-6">
                <a:solidFill>
                  <a:srgbClr val="463E41"/>
                </a:solidFill>
                <a:latin typeface="Source Han Sans CN Normal"/>
                <a:cs typeface="Source Han Sans CN Normal"/>
                <a:ea typeface="Source Han Sans CN Normal"/>
              </a:rPr>
              <a:t>From original design and thoughtful detailing</a:t>
            </a:r>
            <a:endParaRPr sz="700" b="0" spc="-6">
              <a:solidFill>
                <a:srgbClr val="463E41"/>
              </a:solidFill>
              <a:latin typeface="Source Han Sans CN Normal"/>
              <a:cs typeface="Source Han Sans CN Normal"/>
              <a:ea typeface="Source Han Sans CN Normal"/>
            </a:endParaRPr>
          </a:p>
          <a:p>
            <a:pPr marL="0" indent="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-11">
                <a:solidFill>
                  <a:srgbClr val="463E41"/>
                </a:solidFill>
                <a:latin typeface="Source Han Sans CN Normal"/>
                <a:cs typeface="Source Han Sans CN Normal"/>
                <a:ea typeface="Source Han Sans CN Normal"/>
              </a:rPr>
              <a:t>to modular planning,</a:t>
            </a:r>
            <a:endParaRPr sz="700" b="0" spc="-11">
              <a:solidFill>
                <a:srgbClr val="463E41"/>
              </a:solidFill>
              <a:latin typeface="Source Han Sans CN Normal"/>
              <a:cs typeface="Source Han Sans CN Normal"/>
              <a:ea typeface="Source Han Sans CN Normal"/>
            </a:endParaRPr>
          </a:p>
          <a:p>
            <a:pPr marL="0" indent="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-21">
                <a:solidFill>
                  <a:srgbClr val="463E41"/>
                </a:solidFill>
                <a:latin typeface="Source Han Sans CN Normal"/>
                <a:cs typeface="Source Han Sans CN Normal"/>
                <a:ea typeface="Source Han Sans CN Normal"/>
              </a:rPr>
              <a:t xml:space="preserve">we create furniture with a more unified and </a:t>
            </a:r>
            <a:endParaRPr sz="700" b="0" spc="-21">
              <a:solidFill>
                <a:srgbClr val="463E41"/>
              </a:solidFill>
              <a:latin typeface="Source Han Sans CN Normal"/>
              <a:cs typeface="Source Han Sans CN Normal"/>
              <a:ea typeface="Source Han Sans CN Normal"/>
            </a:endParaRPr>
          </a:p>
          <a:p>
            <a:pPr marL="0" indent="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-11">
                <a:solidFill>
                  <a:srgbClr val="463E41"/>
                </a:solidFill>
                <a:latin typeface="Source Han Sans CN Normal"/>
                <a:cs typeface="Source Han Sans CN Normal"/>
                <a:ea typeface="Source Han Sans CN Normal"/>
              </a:rPr>
              <a:t>harmonious connection.</a:t>
            </a:r>
            <a:endParaRPr sz="700" b="0" spc="-11">
              <a:solidFill>
                <a:srgbClr val="463E41"/>
              </a:solidFill>
              <a:latin typeface="Source Han Sans CN Normal"/>
              <a:cs typeface="Source Han Sans CN Normal"/>
              <a:ea typeface="Source Han Sans CN Normal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081058" y="4957619"/>
            <a:ext cx="2504239" cy="561491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marL="0" indent="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-5">
                <a:solidFill>
                  <a:srgbClr val="463E41"/>
                </a:solidFill>
                <a:latin typeface="Source Han Sans CN Normal"/>
                <a:cs typeface="Source Han Sans CN Normal"/>
                <a:ea typeface="Source Han Sans CN Normal"/>
              </a:rPr>
              <a:t xml:space="preserve">From wood grains and materials to spatial </a:t>
            </a:r>
            <a:endParaRPr sz="700" b="0" spc="-5">
              <a:solidFill>
                <a:srgbClr val="463E41"/>
              </a:solidFill>
              <a:latin typeface="Source Han Sans CN Normal"/>
              <a:cs typeface="Source Han Sans CN Normal"/>
              <a:ea typeface="Source Han Sans CN Normal"/>
            </a:endParaRPr>
          </a:p>
          <a:p>
            <a:pPr marL="0" indent="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2">
                <a:solidFill>
                  <a:srgbClr val="463E41"/>
                </a:solidFill>
                <a:latin typeface="Source Han Sans CN Normal"/>
                <a:cs typeface="Source Han Sans CN Normal"/>
                <a:ea typeface="Source Han Sans CN Normal"/>
              </a:rPr>
              <a:t>atmosphere,</a:t>
            </a:r>
            <a:endParaRPr sz="700" b="0" spc="12">
              <a:solidFill>
                <a:srgbClr val="463E41"/>
              </a:solidFill>
              <a:latin typeface="Source Han Sans CN Normal"/>
              <a:cs typeface="Source Han Sans CN Normal"/>
              <a:ea typeface="Source Han Sans CN Normal"/>
            </a:endParaRPr>
          </a:p>
          <a:p>
            <a:pPr marL="0" indent="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4">
                <a:solidFill>
                  <a:srgbClr val="463E41"/>
                </a:solidFill>
                <a:latin typeface="Source Han Sans CN Normal"/>
                <a:cs typeface="Source Han Sans CN Normal"/>
                <a:ea typeface="Source Han Sans CN Normal"/>
              </a:rPr>
              <a:t xml:space="preserve">our original collections are designed to create a more </a:t>
            </a:r>
            <a:endParaRPr sz="700" b="0" spc="4">
              <a:solidFill>
                <a:srgbClr val="463E41"/>
              </a:solidFill>
              <a:latin typeface="Source Han Sans CN Normal"/>
              <a:cs typeface="Source Han Sans CN Normal"/>
              <a:ea typeface="Source Han Sans CN Normal"/>
            </a:endParaRPr>
          </a:p>
          <a:p>
            <a:pPr marL="0" indent="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-15">
                <a:solidFill>
                  <a:srgbClr val="463E41"/>
                </a:solidFill>
                <a:latin typeface="Source Han Sans CN Normal"/>
                <a:cs typeface="Source Han Sans CN Normal"/>
                <a:ea typeface="Source Han Sans CN Normal"/>
              </a:rPr>
              <a:t>natural and cohesive living experience.</a:t>
            </a:r>
            <a:endParaRPr sz="700" b="0" spc="-15">
              <a:solidFill>
                <a:srgbClr val="463E41"/>
              </a:solidFill>
              <a:latin typeface="Source Han Sans CN Normal"/>
              <a:cs typeface="Source Han Sans CN Normal"/>
              <a:ea typeface="Source Han Sans CN Normal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650417" y="4965201"/>
            <a:ext cx="2103788" cy="561491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marL="0" indent="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9">
                <a:solidFill>
                  <a:srgbClr val="463E41"/>
                </a:solidFill>
                <a:latin typeface="Source Han Sans CN Normal"/>
                <a:cs typeface="Source Han Sans CN Normal"/>
                <a:ea typeface="Source Han Sans CN Normal"/>
              </a:rPr>
              <a:t>Rounded corners, soft-close systems,</a:t>
            </a:r>
            <a:endParaRPr sz="700" b="0" spc="9">
              <a:solidFill>
                <a:srgbClr val="463E41"/>
              </a:solidFill>
              <a:latin typeface="Source Han Sans CN Normal"/>
              <a:cs typeface="Source Han Sans CN Normal"/>
              <a:ea typeface="Source Han Sans CN Normal"/>
            </a:endParaRPr>
          </a:p>
          <a:p>
            <a:pPr marL="0" indent="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4">
                <a:solidFill>
                  <a:srgbClr val="463E41"/>
                </a:solidFill>
                <a:latin typeface="Source Han Sans CN Normal"/>
                <a:cs typeface="Source Han Sans CN Normal"/>
                <a:ea typeface="Source Han Sans CN Normal"/>
              </a:rPr>
              <a:t>and carefully selected finishes</a:t>
            </a:r>
            <a:endParaRPr sz="700" b="0" spc="4">
              <a:solidFill>
                <a:srgbClr val="463E41"/>
              </a:solidFill>
              <a:latin typeface="Source Han Sans CN Normal"/>
              <a:cs typeface="Source Han Sans CN Normal"/>
              <a:ea typeface="Source Han Sans CN Normal"/>
            </a:endParaRPr>
          </a:p>
          <a:p>
            <a:pPr marL="0" indent="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-7">
                <a:solidFill>
                  <a:srgbClr val="463E41"/>
                </a:solidFill>
                <a:latin typeface="Source Han Sans CN Normal"/>
                <a:cs typeface="Source Han Sans CN Normal"/>
                <a:ea typeface="Source Han Sans CN Normal"/>
              </a:rPr>
              <a:t xml:space="preserve">create furniture that is both comfortable and </a:t>
            </a:r>
            <a:endParaRPr sz="700" b="0" spc="-7">
              <a:solidFill>
                <a:srgbClr val="463E41"/>
              </a:solidFill>
              <a:latin typeface="Source Han Sans CN Normal"/>
              <a:cs typeface="Source Han Sans CN Normal"/>
              <a:ea typeface="Source Han Sans CN Normal"/>
            </a:endParaRPr>
          </a:p>
          <a:p>
            <a:pPr marL="0" indent="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15">
                <a:solidFill>
                  <a:srgbClr val="463E41"/>
                </a:solidFill>
                <a:latin typeface="Source Han Sans CN Normal"/>
                <a:cs typeface="Source Han Sans CN Normal"/>
                <a:ea typeface="Source Han Sans CN Normal"/>
              </a:rPr>
              <a:t>timeless.</a:t>
            </a:r>
            <a:endParaRPr sz="700" b="0" spc="15">
              <a:solidFill>
                <a:srgbClr val="463E41"/>
              </a:solidFill>
              <a:latin typeface="Source Han Sans CN Normal"/>
              <a:cs typeface="Source Han Sans CN Normal"/>
              <a:ea typeface="Source Han Sans CN Normal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897847" y="5286110"/>
            <a:ext cx="1379240" cy="299770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marL="0" indent="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6">
                <a:solidFill>
                  <a:srgbClr val="463E41"/>
                </a:solidFill>
                <a:latin typeface="Source Han Sans CN Normal"/>
                <a:cs typeface="Source Han Sans CN Normal"/>
                <a:ea typeface="Source Han Sans CN Normal"/>
              </a:rPr>
              <a:t>通过统一尺寸、深度与结构逻辑，</a:t>
            </a:r>
            <a:endParaRPr sz="600" b="0" spc="6">
              <a:solidFill>
                <a:srgbClr val="463E41"/>
              </a:solidFill>
              <a:latin typeface="Source Han Sans CN Normal"/>
              <a:cs typeface="Source Han Sans CN Normal"/>
              <a:ea typeface="Source Han Sans CN Normal"/>
            </a:endParaRPr>
          </a:p>
          <a:p>
            <a:pPr marL="0" indent="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6">
                <a:solidFill>
                  <a:srgbClr val="463E41"/>
                </a:solidFill>
                <a:latin typeface="Source Han Sans CN Normal"/>
                <a:cs typeface="Source Han Sans CN Normal"/>
                <a:ea typeface="Source Han Sans CN Normal"/>
              </a:rPr>
              <a:t>让不同产品之间能够自由组合搭配。</a:t>
            </a:r>
            <a:endParaRPr sz="600" b="0" spc="6">
              <a:solidFill>
                <a:srgbClr val="463E41"/>
              </a:solidFill>
              <a:latin typeface="Source Han Sans CN Normal"/>
              <a:cs typeface="Source Han Sans CN Normal"/>
              <a:ea typeface="Source Han Sans CN Normal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604108" y="5327410"/>
            <a:ext cx="1379240" cy="426796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marL="0" indent="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6">
                <a:solidFill>
                  <a:srgbClr val="463E41"/>
                </a:solidFill>
                <a:latin typeface="Source Han Sans CN Normal"/>
                <a:cs typeface="Source Han Sans CN Normal"/>
                <a:ea typeface="Source Han Sans CN Normal"/>
              </a:rPr>
              <a:t>瑞吉欧家具相信，</a:t>
            </a:r>
            <a:endParaRPr sz="600" b="0" spc="6">
              <a:solidFill>
                <a:srgbClr val="463E41"/>
              </a:solidFill>
              <a:latin typeface="Source Han Sans CN Normal"/>
              <a:cs typeface="Source Han Sans CN Normal"/>
              <a:ea typeface="Source Han Sans CN Normal"/>
            </a:endParaRPr>
          </a:p>
          <a:p>
            <a:pPr marL="0" indent="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6">
                <a:solidFill>
                  <a:srgbClr val="463E41"/>
                </a:solidFill>
                <a:latin typeface="Source Han Sans CN Normal"/>
                <a:cs typeface="Source Han Sans CN Normal"/>
                <a:ea typeface="Source Han Sans CN Normal"/>
              </a:rPr>
              <a:t>家具不只是单一产品，</a:t>
            </a:r>
            <a:endParaRPr sz="600" b="0" spc="6">
              <a:solidFill>
                <a:srgbClr val="463E41"/>
              </a:solidFill>
              <a:latin typeface="Source Han Sans CN Normal"/>
              <a:cs typeface="Source Han Sans CN Normal"/>
              <a:ea typeface="Source Han Sans CN Normal"/>
            </a:endParaRPr>
          </a:p>
          <a:p>
            <a:pPr marL="0" indent="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6">
                <a:solidFill>
                  <a:srgbClr val="463E41"/>
                </a:solidFill>
                <a:latin typeface="Source Han Sans CN Normal"/>
                <a:cs typeface="Source Han Sans CN Normal"/>
                <a:ea typeface="Source Han Sans CN Normal"/>
              </a:rPr>
              <a:t>而是一套能够融入生活的空间系统。</a:t>
            </a:r>
            <a:endParaRPr sz="600" b="0" spc="6">
              <a:solidFill>
                <a:srgbClr val="463E41"/>
              </a:solidFill>
              <a:latin typeface="Source Han Sans CN Normal"/>
              <a:cs typeface="Source Han Sans CN Normal"/>
              <a:ea typeface="Source Han Sans CN Normal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081121" y="5543069"/>
            <a:ext cx="1037917" cy="137160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marL="0" indent="0" algn="l">
              <a:lnSpc>
                <a:spcPts val="72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6">
                <a:solidFill>
                  <a:srgbClr val="463E41"/>
                </a:solidFill>
                <a:latin typeface="Source Han Sans CN Normal"/>
                <a:cs typeface="Source Han Sans CN Normal"/>
                <a:ea typeface="Source Han Sans CN Normal"/>
              </a:rPr>
              <a:t>灵感源于自然与真实生活。</a:t>
            </a:r>
            <a:endParaRPr sz="600" b="0" spc="6">
              <a:solidFill>
                <a:srgbClr val="463E41"/>
              </a:solidFill>
              <a:latin typeface="Source Han Sans CN Normal"/>
              <a:cs typeface="Source Han Sans CN Normal"/>
              <a:ea typeface="Source Han Sans CN Normal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650424" y="5594948"/>
            <a:ext cx="1037925" cy="137160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marL="0" indent="0" algn="l">
              <a:lnSpc>
                <a:spcPts val="72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6">
                <a:solidFill>
                  <a:srgbClr val="463E41"/>
                </a:solidFill>
                <a:latin typeface="Source Han Sans CN Normal"/>
                <a:cs typeface="Source Han Sans CN Normal"/>
                <a:ea typeface="Source Han Sans CN Normal"/>
              </a:rPr>
              <a:t>我们重视每一个使用细节。</a:t>
            </a:r>
            <a:endParaRPr sz="600" b="0" spc="6">
              <a:solidFill>
                <a:srgbClr val="463E41"/>
              </a:solidFill>
              <a:latin typeface="Source Han Sans CN Normal"/>
              <a:cs typeface="Source Han Sans CN Normal"/>
              <a:ea typeface="Source Han Sans CN Normal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897847" y="5702694"/>
            <a:ext cx="1293043" cy="137160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marL="0" indent="0" algn="l">
              <a:lnSpc>
                <a:spcPts val="72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6">
                <a:solidFill>
                  <a:srgbClr val="463E41"/>
                </a:solidFill>
                <a:latin typeface="Source Han Sans CN Normal"/>
                <a:cs typeface="Source Han Sans CN Normal"/>
                <a:ea typeface="Source Han Sans CN Normal"/>
              </a:rPr>
              <a:t>更容易适配不同空间与生活需求。</a:t>
            </a:r>
            <a:endParaRPr sz="600" b="0" spc="6">
              <a:solidFill>
                <a:srgbClr val="463E41"/>
              </a:solidFill>
              <a:latin typeface="Source Han Sans CN Normal"/>
              <a:cs typeface="Source Han Sans CN Normal"/>
              <a:ea typeface="Source Han Sans CN Normal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081121" y="5761457"/>
            <a:ext cx="1286643" cy="426796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marL="0" indent="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6">
                <a:solidFill>
                  <a:srgbClr val="463E41"/>
                </a:solidFill>
                <a:latin typeface="Source Han Sans CN Normal"/>
                <a:cs typeface="Source Han Sans CN Normal"/>
                <a:ea typeface="Source Han Sans CN Normal"/>
              </a:rPr>
              <a:t>从木纹、材质到空间氛围，</a:t>
            </a:r>
            <a:endParaRPr sz="600" b="0" spc="6">
              <a:solidFill>
                <a:srgbClr val="463E41"/>
              </a:solidFill>
              <a:latin typeface="Source Han Sans CN Normal"/>
              <a:cs typeface="Source Han Sans CN Normal"/>
              <a:ea typeface="Source Han Sans CN Normal"/>
            </a:endParaRPr>
          </a:p>
          <a:p>
            <a:pPr marL="0" indent="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6">
                <a:solidFill>
                  <a:srgbClr val="463E41"/>
                </a:solidFill>
                <a:latin typeface="Source Han Sans CN Normal"/>
                <a:cs typeface="Source Han Sans CN Normal"/>
                <a:ea typeface="Source Han Sans CN Normal"/>
              </a:rPr>
              <a:t>我们坚持自主研发与系列化设计，</a:t>
            </a:r>
            <a:endParaRPr sz="600" b="0" spc="6">
              <a:solidFill>
                <a:srgbClr val="463E41"/>
              </a:solidFill>
              <a:latin typeface="Source Han Sans CN Normal"/>
              <a:cs typeface="Source Han Sans CN Normal"/>
              <a:ea typeface="Source Han Sans CN Normal"/>
            </a:endParaRPr>
          </a:p>
          <a:p>
            <a:pPr marL="0" indent="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6">
                <a:solidFill>
                  <a:srgbClr val="463E41"/>
                </a:solidFill>
                <a:latin typeface="Source Han Sans CN Normal"/>
                <a:cs typeface="Source Han Sans CN Normal"/>
                <a:ea typeface="Source Han Sans CN Normal"/>
              </a:rPr>
              <a:t>让整体空间更自然、更统一。</a:t>
            </a:r>
            <a:endParaRPr sz="600" b="0" spc="6">
              <a:solidFill>
                <a:srgbClr val="463E41"/>
              </a:solidFill>
              <a:latin typeface="Source Han Sans CN Normal"/>
              <a:cs typeface="Source Han Sans CN Normal"/>
              <a:ea typeface="Source Han Sans CN Normal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650424" y="5813337"/>
            <a:ext cx="1200445" cy="426795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marL="0" indent="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6">
                <a:solidFill>
                  <a:srgbClr val="463E41"/>
                </a:solidFill>
                <a:latin typeface="Source Han Sans CN Normal"/>
                <a:cs typeface="Source Han Sans CN Normal"/>
                <a:ea typeface="Source Han Sans CN Normal"/>
              </a:rPr>
              <a:t>圆角处理、缓冲开合、</a:t>
            </a:r>
            <a:endParaRPr sz="600" b="0" spc="6">
              <a:solidFill>
                <a:srgbClr val="463E41"/>
              </a:solidFill>
              <a:latin typeface="Source Han Sans CN Normal"/>
              <a:cs typeface="Source Han Sans CN Normal"/>
              <a:ea typeface="Source Han Sans CN Normal"/>
            </a:endParaRPr>
          </a:p>
          <a:p>
            <a:pPr marL="0" indent="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6">
                <a:solidFill>
                  <a:srgbClr val="463E41"/>
                </a:solidFill>
                <a:latin typeface="Source Han Sans CN Normal"/>
                <a:cs typeface="Source Han Sans CN Normal"/>
                <a:ea typeface="Source Han Sans CN Normal"/>
              </a:rPr>
              <a:t>更细致的表面处理与木纹搭配，</a:t>
            </a:r>
            <a:endParaRPr sz="600" b="0" spc="6">
              <a:solidFill>
                <a:srgbClr val="463E41"/>
              </a:solidFill>
              <a:latin typeface="Source Han Sans CN Normal"/>
              <a:cs typeface="Source Han Sans CN Normal"/>
              <a:ea typeface="Source Han Sans CN Normal"/>
            </a:endParaRPr>
          </a:p>
          <a:p>
            <a:pPr marL="0" indent="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6">
                <a:solidFill>
                  <a:srgbClr val="463E41"/>
                </a:solidFill>
                <a:latin typeface="Source Han Sans CN Normal"/>
                <a:cs typeface="Source Han Sans CN Normal"/>
                <a:ea typeface="Source Han Sans CN Normal"/>
              </a:rPr>
              <a:t>让家具更耐看，也更舒适。</a:t>
            </a:r>
            <a:endParaRPr sz="600" b="0" spc="6">
              <a:solidFill>
                <a:srgbClr val="463E41"/>
              </a:solidFill>
              <a:latin typeface="Source Han Sans CN Normal"/>
              <a:cs typeface="Source Han Sans CN Normal"/>
              <a:ea typeface="Source Han Sans CN Normal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604108" y="5835435"/>
            <a:ext cx="1508963" cy="426795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marL="0" indent="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6">
                <a:solidFill>
                  <a:srgbClr val="463E41"/>
                </a:solidFill>
                <a:latin typeface="Source Han Sans CN Normal"/>
                <a:cs typeface="Source Han Sans CN Normal"/>
                <a:ea typeface="Source Han Sans CN Normal"/>
              </a:rPr>
              <a:t>从原创设计、细节处理，</a:t>
            </a:r>
            <a:endParaRPr sz="600" b="0" spc="6">
              <a:solidFill>
                <a:srgbClr val="463E41"/>
              </a:solidFill>
              <a:latin typeface="Source Han Sans CN Normal"/>
              <a:cs typeface="Source Han Sans CN Normal"/>
              <a:ea typeface="Source Han Sans CN Normal"/>
            </a:endParaRPr>
          </a:p>
          <a:p>
            <a:pPr marL="0" indent="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6">
                <a:solidFill>
                  <a:srgbClr val="463E41"/>
                </a:solidFill>
                <a:latin typeface="Source Han Sans CN Normal"/>
                <a:cs typeface="Source Han Sans CN Normal"/>
                <a:ea typeface="Source Han Sans CN Normal"/>
              </a:rPr>
              <a:t>到模块化搭配逻辑，</a:t>
            </a:r>
            <a:endParaRPr sz="600" b="0" spc="6">
              <a:solidFill>
                <a:srgbClr val="463E41"/>
              </a:solidFill>
              <a:latin typeface="Source Han Sans CN Normal"/>
              <a:cs typeface="Source Han Sans CN Normal"/>
              <a:ea typeface="Source Han Sans CN Normal"/>
            </a:endParaRPr>
          </a:p>
          <a:p>
            <a:pPr marL="0" indent="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6">
                <a:solidFill>
                  <a:srgbClr val="463E41"/>
                </a:solidFill>
                <a:latin typeface="Source Han Sans CN Normal"/>
                <a:cs typeface="Source Han Sans CN Normal"/>
                <a:ea typeface="Source Han Sans CN Normal"/>
              </a:rPr>
              <a:t>让家具之间拥有更统一、更协调的关系。</a:t>
            </a:r>
            <a:endParaRPr sz="600" b="0" spc="6">
              <a:solidFill>
                <a:srgbClr val="463E41"/>
              </a:solidFill>
              <a:latin typeface="Source Han Sans CN Normal"/>
              <a:cs typeface="Source Han Sans CN Normal"/>
              <a:ea typeface="Source Han Sans CN Norm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 p9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"/>
            <a:ext cx="12191970" cy="685798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02039" y="493663"/>
            <a:ext cx="873123" cy="285749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463E41"/>
                </a:solidFill>
                <a:latin typeface="youyou-yisong"/>
                <a:cs typeface="youyou-yisong"/>
                <a:ea typeface="youyou-yisong"/>
              </a:rPr>
              <a:t>产品系列</a:t>
            </a:r>
            <a:endParaRPr sz="1250" b="0">
              <a:solidFill>
                <a:srgbClr val="463E41"/>
              </a:solidFill>
              <a:latin typeface="youyou-yisong"/>
              <a:cs typeface="youyou-yisong"/>
              <a:ea typeface="youyou-yisong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677970" y="379147"/>
            <a:ext cx="2499354" cy="571499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marL="0" indent="0" algn="l">
              <a:lnSpc>
                <a:spcPts val="3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spc="50">
                <a:solidFill>
                  <a:srgbClr val="100A0B"/>
                </a:solidFill>
                <a:latin typeface="Sabon LT Std"/>
                <a:cs typeface="Sabon LT Std"/>
                <a:ea typeface="Sabon LT Std"/>
              </a:rPr>
              <a:t>Product Series</a:t>
            </a:r>
            <a:endParaRPr sz="2500" b="1" spc="50">
              <a:solidFill>
                <a:srgbClr val="100A0B"/>
              </a:solidFill>
              <a:latin typeface="Sabon LT Std"/>
              <a:cs typeface="Sabon LT Std"/>
              <a:ea typeface="Sabon LT Std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466449" y="1338325"/>
            <a:ext cx="1193927" cy="265514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marL="0" indent="0" algn="l">
              <a:lnSpc>
                <a:spcPts val="1394"/>
              </a:lnSpc>
              <a:spcBef>
                <a:spcPts val="0"/>
              </a:spcBef>
              <a:spcAft>
                <a:spcPts val="0"/>
              </a:spcAft>
            </a:pPr>
            <a:r>
              <a:rPr sz="1161" b="1" spc="23">
                <a:solidFill>
                  <a:srgbClr val="463E41"/>
                </a:solidFill>
                <a:latin typeface="Sabon LT Std"/>
                <a:cs typeface="Sabon LT Std"/>
                <a:ea typeface="Sabon LT Std"/>
              </a:rPr>
              <a:t>Nordic Classic</a:t>
            </a:r>
            <a:endParaRPr sz="1161" b="1" spc="23">
              <a:solidFill>
                <a:srgbClr val="463E41"/>
              </a:solidFill>
              <a:latin typeface="Sabon LT Std"/>
              <a:cs typeface="Sabon LT Std"/>
              <a:ea typeface="Sabon LT Std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900868" y="1349388"/>
            <a:ext cx="1100850" cy="265514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marL="0" indent="0" algn="l">
              <a:lnSpc>
                <a:spcPts val="1394"/>
              </a:lnSpc>
              <a:spcBef>
                <a:spcPts val="0"/>
              </a:spcBef>
              <a:spcAft>
                <a:spcPts val="0"/>
              </a:spcAft>
            </a:pPr>
            <a:r>
              <a:rPr sz="1161" b="1" spc="23">
                <a:solidFill>
                  <a:srgbClr val="463E41"/>
                </a:solidFill>
                <a:latin typeface="Sabon LT Std"/>
                <a:cs typeface="Sabon LT Std"/>
                <a:ea typeface="Sabon LT Std"/>
              </a:rPr>
              <a:t>Gasing Series</a:t>
            </a:r>
            <a:endParaRPr sz="1161" b="1" spc="23">
              <a:solidFill>
                <a:srgbClr val="463E41"/>
              </a:solidFill>
              <a:latin typeface="Sabon LT Std"/>
              <a:cs typeface="Sabon LT Std"/>
              <a:ea typeface="Sabon LT Std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239260" y="1361484"/>
            <a:ext cx="1045104" cy="265514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marL="0" indent="0" algn="l">
              <a:lnSpc>
                <a:spcPts val="1394"/>
              </a:lnSpc>
              <a:spcBef>
                <a:spcPts val="0"/>
              </a:spcBef>
              <a:spcAft>
                <a:spcPts val="0"/>
              </a:spcAft>
            </a:pPr>
            <a:r>
              <a:rPr sz="1161" b="1" spc="23">
                <a:solidFill>
                  <a:srgbClr val="463E41"/>
                </a:solidFill>
                <a:latin typeface="Sabon LT Std"/>
                <a:cs typeface="Sabon LT Std"/>
                <a:ea typeface="Sabon LT Std"/>
              </a:rPr>
              <a:t>Arked Series</a:t>
            </a:r>
            <a:endParaRPr sz="1161" b="1" spc="23">
              <a:solidFill>
                <a:srgbClr val="463E41"/>
              </a:solidFill>
              <a:latin typeface="Sabon LT Std"/>
              <a:cs typeface="Sabon LT Std"/>
              <a:ea typeface="Sabon LT Std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485477" y="1546016"/>
            <a:ext cx="1105717" cy="265514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marL="0" indent="0" algn="l">
              <a:lnSpc>
                <a:spcPts val="1394"/>
              </a:lnSpc>
              <a:spcBef>
                <a:spcPts val="0"/>
              </a:spcBef>
              <a:spcAft>
                <a:spcPts val="0"/>
              </a:spcAft>
            </a:pPr>
            <a:r>
              <a:rPr sz="1161" b="0">
                <a:solidFill>
                  <a:srgbClr val="463E41"/>
                </a:solidFill>
                <a:latin typeface="youyou-yisong"/>
                <a:cs typeface="youyou-yisong"/>
                <a:ea typeface="youyou-yisong"/>
              </a:rPr>
              <a:t>北欧经典系列</a:t>
            </a:r>
            <a:endParaRPr sz="1161" b="0">
              <a:solidFill>
                <a:srgbClr val="463E41"/>
              </a:solidFill>
              <a:latin typeface="youyou-yisong"/>
              <a:cs typeface="youyou-yisong"/>
              <a:ea typeface="youyou-yisong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020497" y="1557079"/>
            <a:ext cx="811292" cy="265514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marL="0" indent="0" algn="l">
              <a:lnSpc>
                <a:spcPts val="1394"/>
              </a:lnSpc>
              <a:spcBef>
                <a:spcPts val="0"/>
              </a:spcBef>
              <a:spcAft>
                <a:spcPts val="0"/>
              </a:spcAft>
            </a:pPr>
            <a:r>
              <a:rPr sz="1161" b="0">
                <a:solidFill>
                  <a:srgbClr val="463E41"/>
                </a:solidFill>
                <a:latin typeface="youyou-yisong"/>
                <a:cs typeface="youyou-yisong"/>
                <a:ea typeface="youyou-yisong"/>
              </a:rPr>
              <a:t>陀螺系列</a:t>
            </a:r>
            <a:endParaRPr sz="1161" b="0">
              <a:solidFill>
                <a:srgbClr val="463E41"/>
              </a:solidFill>
              <a:latin typeface="youyou-yisong"/>
              <a:cs typeface="youyou-yisong"/>
              <a:ea typeface="youyou-yisong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258288" y="1569175"/>
            <a:ext cx="956735" cy="265514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marL="0" indent="0" algn="l">
              <a:lnSpc>
                <a:spcPts val="1394"/>
              </a:lnSpc>
              <a:spcBef>
                <a:spcPts val="0"/>
              </a:spcBef>
              <a:spcAft>
                <a:spcPts val="0"/>
              </a:spcAft>
            </a:pPr>
            <a:r>
              <a:rPr sz="1161" b="0" spc="-3">
                <a:solidFill>
                  <a:srgbClr val="463E41"/>
                </a:solidFill>
                <a:latin typeface="youyou-yisong"/>
                <a:cs typeface="youyou-yisong"/>
                <a:ea typeface="youyou-yisong"/>
              </a:rPr>
              <a:t>大圆边系列</a:t>
            </a:r>
            <a:endParaRPr sz="1161" b="0" spc="-3">
              <a:solidFill>
                <a:srgbClr val="463E41"/>
              </a:solidFill>
              <a:latin typeface="youyou-yisong"/>
              <a:cs typeface="youyou-yisong"/>
              <a:ea typeface="youyou-yisong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848863" y="1639241"/>
            <a:ext cx="1108960" cy="265514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marL="0" indent="0" algn="l">
              <a:lnSpc>
                <a:spcPts val="1394"/>
              </a:lnSpc>
              <a:spcBef>
                <a:spcPts val="0"/>
              </a:spcBef>
              <a:spcAft>
                <a:spcPts val="0"/>
              </a:spcAft>
            </a:pPr>
            <a:r>
              <a:rPr sz="1161" b="1" spc="23">
                <a:solidFill>
                  <a:srgbClr val="463E41"/>
                </a:solidFill>
                <a:latin typeface="Sabon LT Std"/>
                <a:cs typeface="Sabon LT Std"/>
                <a:ea typeface="Sabon LT Std"/>
              </a:rPr>
              <a:t>Batang Series</a:t>
            </a:r>
            <a:endParaRPr sz="1161" b="1" spc="23">
              <a:solidFill>
                <a:srgbClr val="463E41"/>
              </a:solidFill>
              <a:latin typeface="Sabon LT Std"/>
              <a:cs typeface="Sabon LT Std"/>
              <a:ea typeface="Sabon LT Std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089180" y="1640421"/>
            <a:ext cx="1309278" cy="265514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marL="0" indent="0" algn="l">
              <a:lnSpc>
                <a:spcPts val="1394"/>
              </a:lnSpc>
              <a:spcBef>
                <a:spcPts val="0"/>
              </a:spcBef>
              <a:spcAft>
                <a:spcPts val="0"/>
              </a:spcAft>
            </a:pPr>
            <a:r>
              <a:rPr sz="1161" b="1" spc="23">
                <a:solidFill>
                  <a:srgbClr val="463E41"/>
                </a:solidFill>
                <a:latin typeface="Sabon LT Std"/>
                <a:cs typeface="Sabon LT Std"/>
                <a:ea typeface="Sabon LT Std"/>
              </a:rPr>
              <a:t>Wabi Sabi Series</a:t>
            </a:r>
            <a:endParaRPr sz="1161" b="1" spc="23">
              <a:solidFill>
                <a:srgbClr val="463E41"/>
              </a:solidFill>
              <a:latin typeface="Sabon LT Std"/>
              <a:cs typeface="Sabon LT Std"/>
              <a:ea typeface="Sabon LT Std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574047" y="1641453"/>
            <a:ext cx="1063527" cy="265514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marL="0" indent="0" algn="l">
              <a:lnSpc>
                <a:spcPts val="1394"/>
              </a:lnSpc>
              <a:spcBef>
                <a:spcPts val="0"/>
              </a:spcBef>
              <a:spcAft>
                <a:spcPts val="0"/>
              </a:spcAft>
            </a:pPr>
            <a:r>
              <a:rPr sz="1161" b="1" spc="23">
                <a:solidFill>
                  <a:srgbClr val="463E41"/>
                </a:solidFill>
                <a:latin typeface="Sabon LT Std"/>
                <a:cs typeface="Sabon LT Std"/>
                <a:ea typeface="Sabon LT Std"/>
              </a:rPr>
              <a:t>Afrain Series</a:t>
            </a:r>
            <a:endParaRPr sz="1161" b="1" spc="23">
              <a:solidFill>
                <a:srgbClr val="463E41"/>
              </a:solidFill>
              <a:latin typeface="Sabon LT Std"/>
              <a:cs typeface="Sabon LT Std"/>
              <a:ea typeface="Sabon LT Std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899163" y="1853274"/>
            <a:ext cx="958062" cy="265514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marL="0" indent="0" algn="l">
              <a:lnSpc>
                <a:spcPts val="1394"/>
              </a:lnSpc>
              <a:spcBef>
                <a:spcPts val="0"/>
              </a:spcBef>
              <a:spcAft>
                <a:spcPts val="0"/>
              </a:spcAft>
            </a:pPr>
            <a:r>
              <a:rPr sz="1161" b="0">
                <a:solidFill>
                  <a:srgbClr val="463E41"/>
                </a:solidFill>
                <a:latin typeface="youyou-yisong"/>
                <a:cs typeface="youyou-yisong"/>
                <a:ea typeface="youyou-yisong"/>
              </a:rPr>
              <a:t>骨骼线系列</a:t>
            </a:r>
            <a:endParaRPr sz="1161" b="0">
              <a:solidFill>
                <a:srgbClr val="463E41"/>
              </a:solidFill>
              <a:latin typeface="youyou-yisong"/>
              <a:cs typeface="youyou-yisong"/>
              <a:ea typeface="youyou-yisong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190665" y="1854454"/>
            <a:ext cx="1106307" cy="265514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marL="0" indent="0" algn="l">
              <a:lnSpc>
                <a:spcPts val="1394"/>
              </a:lnSpc>
              <a:spcBef>
                <a:spcPts val="0"/>
              </a:spcBef>
              <a:spcAft>
                <a:spcPts val="0"/>
              </a:spcAft>
            </a:pPr>
            <a:r>
              <a:rPr sz="1161" b="0">
                <a:solidFill>
                  <a:srgbClr val="463E41"/>
                </a:solidFill>
                <a:latin typeface="youyou-yisong"/>
                <a:cs typeface="youyou-yisong"/>
                <a:ea typeface="youyou-yisong"/>
              </a:rPr>
              <a:t>编藤民宿系列</a:t>
            </a:r>
            <a:endParaRPr sz="1161" b="0">
              <a:solidFill>
                <a:srgbClr val="463E41"/>
              </a:solidFill>
              <a:latin typeface="youyou-yisong"/>
              <a:cs typeface="youyou-yisong"/>
              <a:ea typeface="youyou-yisong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553101" y="1855487"/>
            <a:ext cx="1105275" cy="265514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marL="0" indent="0" algn="l">
              <a:lnSpc>
                <a:spcPts val="1394"/>
              </a:lnSpc>
              <a:spcBef>
                <a:spcPts val="0"/>
              </a:spcBef>
              <a:spcAft>
                <a:spcPts val="0"/>
              </a:spcAft>
            </a:pPr>
            <a:r>
              <a:rPr sz="1161" b="0">
                <a:solidFill>
                  <a:srgbClr val="463E41"/>
                </a:solidFill>
                <a:latin typeface="youyou-yisong"/>
                <a:cs typeface="youyou-yisong"/>
                <a:ea typeface="youyou-yisong"/>
              </a:rPr>
              <a:t>非洲木纹系列</a:t>
            </a:r>
            <a:endParaRPr sz="1161" b="0">
              <a:solidFill>
                <a:srgbClr val="463E41"/>
              </a:solidFill>
              <a:latin typeface="youyou-yisong"/>
              <a:cs typeface="youyou-yisong"/>
              <a:ea typeface="youyou-yisong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656184" y="5710511"/>
            <a:ext cx="633449" cy="299770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marL="0" indent="0" algn="ctr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-5">
                <a:solidFill>
                  <a:srgbClr val="463E41"/>
                </a:solidFill>
                <a:latin typeface="Source Han Sans CN Normal"/>
                <a:cs typeface="Source Han Sans CN Normal"/>
                <a:ea typeface="Source Han Sans CN Normal"/>
              </a:rPr>
              <a:t>Classic Revival</a:t>
            </a:r>
            <a:endParaRPr sz="600" b="0" spc="-5">
              <a:solidFill>
                <a:srgbClr val="463E41"/>
              </a:solidFill>
              <a:latin typeface="Source Han Sans CN Normal"/>
              <a:cs typeface="Source Han Sans CN Normal"/>
              <a:ea typeface="Source Han Sans CN Normal"/>
            </a:endParaRPr>
          </a:p>
          <a:p>
            <a:pPr marL="0" indent="0" algn="ctr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6">
                <a:solidFill>
                  <a:srgbClr val="463E41"/>
                </a:solidFill>
                <a:latin typeface="Source Han Sans CN Normal"/>
                <a:cs typeface="Source Han Sans CN Normal"/>
                <a:ea typeface="Source Han Sans CN Normal"/>
              </a:rPr>
              <a:t>复刻经典</a:t>
            </a:r>
            <a:endParaRPr sz="600" b="0" spc="6">
              <a:solidFill>
                <a:srgbClr val="463E41"/>
              </a:solidFill>
              <a:latin typeface="Source Han Sans CN Normal"/>
              <a:cs typeface="Source Han Sans CN Normal"/>
              <a:ea typeface="Source Han Sans CN Normal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901305" y="5710511"/>
            <a:ext cx="760704" cy="299770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marL="0" indent="0" algn="ctr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-12">
                <a:solidFill>
                  <a:srgbClr val="463E41"/>
                </a:solidFill>
                <a:latin typeface="Source Han Sans CN Normal"/>
                <a:cs typeface="Source Han Sans CN Normal"/>
                <a:ea typeface="Source Han Sans CN Normal"/>
              </a:rPr>
              <a:t>Design Innovation</a:t>
            </a:r>
            <a:endParaRPr sz="600" b="0" spc="-12">
              <a:solidFill>
                <a:srgbClr val="463E41"/>
              </a:solidFill>
              <a:latin typeface="Source Han Sans CN Normal"/>
              <a:cs typeface="Source Han Sans CN Normal"/>
              <a:ea typeface="Source Han Sans CN Normal"/>
            </a:endParaRPr>
          </a:p>
          <a:p>
            <a:pPr marL="0" indent="0" algn="ctr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6">
                <a:solidFill>
                  <a:srgbClr val="463E41"/>
                </a:solidFill>
                <a:latin typeface="Source Han Sans CN Normal"/>
                <a:cs typeface="Source Han Sans CN Normal"/>
                <a:ea typeface="Source Han Sans CN Normal"/>
              </a:rPr>
              <a:t>设计创新</a:t>
            </a:r>
            <a:endParaRPr sz="600" b="0" spc="6">
              <a:solidFill>
                <a:srgbClr val="463E41"/>
              </a:solidFill>
              <a:latin typeface="Source Han Sans CN Normal"/>
              <a:cs typeface="Source Han Sans CN Normal"/>
              <a:ea typeface="Source Han Sans CN Normal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227673" y="5710511"/>
            <a:ext cx="841706" cy="299770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marL="0" indent="0" algn="ctr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3">
                <a:solidFill>
                  <a:srgbClr val="463E41"/>
                </a:solidFill>
                <a:latin typeface="Source Han Sans CN Normal"/>
                <a:cs typeface="Source Han Sans CN Normal"/>
                <a:ea typeface="Source Han Sans CN Normal"/>
              </a:rPr>
              <a:t>Reimagined Classics</a:t>
            </a:r>
            <a:endParaRPr sz="600" b="0" spc="3">
              <a:solidFill>
                <a:srgbClr val="463E41"/>
              </a:solidFill>
              <a:latin typeface="Source Han Sans CN Normal"/>
              <a:cs typeface="Source Han Sans CN Normal"/>
              <a:ea typeface="Source Han Sans CN Normal"/>
            </a:endParaRPr>
          </a:p>
          <a:p>
            <a:pPr marL="0" indent="0" algn="ctr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6">
                <a:solidFill>
                  <a:srgbClr val="463E41"/>
                </a:solidFill>
                <a:latin typeface="Source Han Sans CN Normal"/>
                <a:cs typeface="Source Han Sans CN Normal"/>
                <a:ea typeface="Source Han Sans CN Normal"/>
              </a:rPr>
              <a:t>经典再创</a:t>
            </a:r>
            <a:endParaRPr sz="600" b="0" spc="6">
              <a:solidFill>
                <a:srgbClr val="463E41"/>
              </a:solidFill>
              <a:latin typeface="Source Han Sans CN Normal"/>
              <a:cs typeface="Source Han Sans CN Normal"/>
              <a:ea typeface="Source Han Sans CN Normal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227348" y="6033979"/>
            <a:ext cx="832484" cy="299770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marL="0" indent="0" algn="ctr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-6">
                <a:solidFill>
                  <a:srgbClr val="463E41"/>
                </a:solidFill>
                <a:latin typeface="Source Han Sans CN Normal"/>
                <a:cs typeface="Source Han Sans CN Normal"/>
                <a:ea typeface="Source Han Sans CN Normal"/>
              </a:rPr>
              <a:t>Material Exploration</a:t>
            </a:r>
            <a:endParaRPr sz="600" b="0" spc="-6">
              <a:solidFill>
                <a:srgbClr val="463E41"/>
              </a:solidFill>
              <a:latin typeface="Source Han Sans CN Normal"/>
              <a:cs typeface="Source Han Sans CN Normal"/>
              <a:ea typeface="Source Han Sans CN Normal"/>
            </a:endParaRPr>
          </a:p>
          <a:p>
            <a:pPr marL="0" indent="0" algn="ctr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6">
                <a:solidFill>
                  <a:srgbClr val="463E41"/>
                </a:solidFill>
                <a:latin typeface="Source Han Sans CN Normal"/>
                <a:cs typeface="Source Han Sans CN Normal"/>
                <a:ea typeface="Source Han Sans CN Normal"/>
              </a:rPr>
              <a:t>材料的探索</a:t>
            </a:r>
            <a:endParaRPr sz="600" b="0" spc="6">
              <a:solidFill>
                <a:srgbClr val="463E41"/>
              </a:solidFill>
              <a:latin typeface="Source Han Sans CN Normal"/>
              <a:cs typeface="Source Han Sans CN Normal"/>
              <a:ea typeface="Source Han Sans CN Normal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609342" y="6033979"/>
            <a:ext cx="685952" cy="299770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marL="0" indent="0" algn="ctr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-2">
                <a:solidFill>
                  <a:srgbClr val="463E41"/>
                </a:solidFill>
                <a:latin typeface="Source Han Sans CN Normal"/>
                <a:cs typeface="Source Han Sans CN Normal"/>
                <a:ea typeface="Source Han Sans CN Normal"/>
              </a:rPr>
              <a:t xml:space="preserve"> Personalization</a:t>
            </a:r>
            <a:endParaRPr sz="600" b="0" spc="-2">
              <a:solidFill>
                <a:srgbClr val="463E41"/>
              </a:solidFill>
              <a:latin typeface="Source Han Sans CN Normal"/>
              <a:cs typeface="Source Han Sans CN Normal"/>
              <a:ea typeface="Source Han Sans CN Normal"/>
            </a:endParaRPr>
          </a:p>
          <a:p>
            <a:pPr marL="0" indent="0" algn="ctr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6">
                <a:solidFill>
                  <a:srgbClr val="463E41"/>
                </a:solidFill>
                <a:latin typeface="Source Han Sans CN Normal"/>
                <a:cs typeface="Source Han Sans CN Normal"/>
                <a:ea typeface="Source Han Sans CN Normal"/>
              </a:rPr>
              <a:t>个性化</a:t>
            </a:r>
            <a:endParaRPr sz="600" b="0" spc="6">
              <a:solidFill>
                <a:srgbClr val="463E41"/>
              </a:solidFill>
              <a:latin typeface="Source Han Sans CN Normal"/>
              <a:cs typeface="Source Han Sans CN Normal"/>
              <a:ea typeface="Source Han Sans CN Normal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951541" y="6033979"/>
            <a:ext cx="735331" cy="299770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marL="0" indent="0" algn="ctr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1">
                <a:solidFill>
                  <a:srgbClr val="463E41"/>
                </a:solidFill>
                <a:latin typeface="Source Han Sans CN Normal"/>
                <a:cs typeface="Source Han Sans CN Normal"/>
                <a:ea typeface="Source Han Sans CN Normal"/>
              </a:rPr>
              <a:t>Vintage Nostalgia</a:t>
            </a:r>
            <a:endParaRPr sz="600" b="0" spc="1">
              <a:solidFill>
                <a:srgbClr val="463E41"/>
              </a:solidFill>
              <a:latin typeface="Source Han Sans CN Normal"/>
              <a:cs typeface="Source Han Sans CN Normal"/>
              <a:ea typeface="Source Han Sans CN Normal"/>
            </a:endParaRPr>
          </a:p>
          <a:p>
            <a:pPr marL="0" indent="0" algn="ctr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6">
                <a:solidFill>
                  <a:srgbClr val="463E41"/>
                </a:solidFill>
                <a:latin typeface="Source Han Sans CN Normal"/>
                <a:cs typeface="Source Han Sans CN Normal"/>
                <a:ea typeface="Source Han Sans CN Normal"/>
              </a:rPr>
              <a:t>古典怀旧</a:t>
            </a:r>
            <a:endParaRPr sz="600" b="0" spc="6">
              <a:solidFill>
                <a:srgbClr val="463E41"/>
              </a:solidFill>
              <a:latin typeface="Source Han Sans CN Normal"/>
              <a:cs typeface="Source Han Sans CN Normal"/>
              <a:ea typeface="Source Han Sans CN Norm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 p10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"/>
            <a:ext cx="12191970" cy="685798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52727" y="1529154"/>
            <a:ext cx="2304815" cy="285749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463E41"/>
                </a:solidFill>
                <a:latin typeface="youyou-yisong"/>
                <a:cs typeface="youyou-yisong"/>
                <a:ea typeface="youyou-yisong"/>
              </a:rPr>
              <a:t>每一份认证，都是信任的证明</a:t>
            </a:r>
            <a:endParaRPr sz="1250" b="0">
              <a:solidFill>
                <a:srgbClr val="463E41"/>
              </a:solidFill>
              <a:latin typeface="youyou-yisong"/>
              <a:cs typeface="youyou-yisong"/>
              <a:ea typeface="youyou-yisong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388910" y="1831757"/>
            <a:ext cx="4896957" cy="571499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marL="0" indent="0" algn="l">
              <a:lnSpc>
                <a:spcPts val="3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spc="50">
                <a:solidFill>
                  <a:srgbClr val="100A0B"/>
                </a:solidFill>
                <a:latin typeface="Sabon LT Std"/>
                <a:cs typeface="Sabon LT Std"/>
                <a:ea typeface="Sabon LT Std"/>
              </a:rPr>
              <a:t>Certified Quality, Proven Trust</a:t>
            </a:r>
            <a:endParaRPr sz="2500" b="1" spc="50">
              <a:solidFill>
                <a:srgbClr val="100A0B"/>
              </a:solidFill>
              <a:latin typeface="Sabon LT Std"/>
              <a:cs typeface="Sabon LT Std"/>
              <a:ea typeface="Sabon LT Std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 p1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"/>
            <a:ext cx="12191970" cy="685798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46788" y="584315"/>
            <a:ext cx="3577898" cy="571499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marL="0" indent="0" algn="l">
              <a:lnSpc>
                <a:spcPts val="3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spc="50">
                <a:solidFill>
                  <a:srgbClr val="100A0B"/>
                </a:solidFill>
                <a:latin typeface="Sabon LT Std"/>
                <a:cs typeface="Sabon LT Std"/>
                <a:ea typeface="Sabon LT Std"/>
              </a:rPr>
              <a:t>Warehouse &amp; Gallery</a:t>
            </a:r>
            <a:endParaRPr sz="2500" b="1" spc="50">
              <a:solidFill>
                <a:srgbClr val="100A0B"/>
              </a:solidFill>
              <a:latin typeface="Sabon LT Std"/>
              <a:cs typeface="Sabon LT Std"/>
              <a:ea typeface="Sabon LT Std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188486" y="1031589"/>
            <a:ext cx="1347784" cy="285749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463E41"/>
                </a:solidFill>
                <a:latin typeface="youyou-yisong"/>
                <a:cs typeface="youyou-yisong"/>
                <a:ea typeface="youyou-yisong"/>
              </a:rPr>
              <a:t>仓储与展示中心</a:t>
            </a:r>
            <a:endParaRPr sz="1250" b="0">
              <a:solidFill>
                <a:srgbClr val="463E41"/>
              </a:solidFill>
              <a:latin typeface="youyou-yisong"/>
              <a:cs typeface="youyou-yisong"/>
              <a:ea typeface="youyou-yisong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361020" y="1748730"/>
            <a:ext cx="1680254" cy="299770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marL="0" indent="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3">
                <a:solidFill>
                  <a:srgbClr val="463E41"/>
                </a:solidFill>
                <a:latin typeface="Source Han Sans CN Normal"/>
                <a:cs typeface="Source Han Sans CN Normal"/>
                <a:ea typeface="Source Han Sans CN Normal"/>
              </a:rPr>
              <a:t>Warehouse located at Setia Alam Malaysia</a:t>
            </a:r>
            <a:endParaRPr sz="600" b="0" spc="3">
              <a:solidFill>
                <a:srgbClr val="463E41"/>
              </a:solidFill>
              <a:latin typeface="Source Han Sans CN Normal"/>
              <a:cs typeface="Source Han Sans CN Normal"/>
              <a:ea typeface="Source Han Sans CN Normal"/>
            </a:endParaRPr>
          </a:p>
          <a:p>
            <a:pPr marL="0" indent="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6">
                <a:solidFill>
                  <a:srgbClr val="463E41"/>
                </a:solidFill>
                <a:latin typeface="Source Han Sans CN Normal"/>
                <a:cs typeface="Source Han Sans CN Normal"/>
                <a:ea typeface="Source Han Sans CN Normal"/>
              </a:rPr>
              <a:t>位于马来西亚 Setia Alam 仓库</a:t>
            </a:r>
            <a:endParaRPr sz="600" b="0" spc="6">
              <a:solidFill>
                <a:srgbClr val="463E41"/>
              </a:solidFill>
              <a:latin typeface="Source Han Sans CN Normal"/>
              <a:cs typeface="Source Han Sans CN Normal"/>
              <a:ea typeface="Source Han Sans CN Normal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228367" y="2524584"/>
            <a:ext cx="1622463" cy="299770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marL="0" indent="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463E41"/>
                </a:solidFill>
                <a:latin typeface="Source Han Sans CN Normal"/>
                <a:cs typeface="Source Han Sans CN Normal"/>
                <a:ea typeface="Source Han Sans CN Normal"/>
              </a:rPr>
              <a:t xml:space="preserve">A </a:t>
            </a:r>
            <a:r>
              <a:rPr sz="600" b="0" spc="5">
                <a:solidFill>
                  <a:srgbClr val="463E41"/>
                </a:solidFill>
                <a:latin typeface="Source Han Sans CN Normal"/>
                <a:cs typeface="Source Han Sans CN Normal"/>
                <a:ea typeface="Source Han Sans CN Normal"/>
              </a:rPr>
              <a:t xml:space="preserve">30-member professional team office &amp; </a:t>
            </a:r>
            <a:endParaRPr sz="600" b="0" spc="5">
              <a:solidFill>
                <a:srgbClr val="463E41"/>
              </a:solidFill>
              <a:latin typeface="Source Han Sans CN Normal"/>
              <a:cs typeface="Source Han Sans CN Normal"/>
              <a:ea typeface="Source Han Sans CN Normal"/>
            </a:endParaRPr>
          </a:p>
          <a:p>
            <a:pPr marL="0" indent="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-4">
                <a:solidFill>
                  <a:srgbClr val="463E41"/>
                </a:solidFill>
                <a:latin typeface="Source Han Sans CN Normal"/>
                <a:cs typeface="Source Han Sans CN Normal"/>
                <a:ea typeface="Source Han Sans CN Normal"/>
              </a:rPr>
              <a:t>showroom based in Foshan, Guangzhou.</a:t>
            </a:r>
            <a:endParaRPr sz="600" b="0" spc="-4">
              <a:solidFill>
                <a:srgbClr val="463E41"/>
              </a:solidFill>
              <a:latin typeface="Source Han Sans CN Normal"/>
              <a:cs typeface="Source Han Sans CN Normal"/>
              <a:ea typeface="Source Han Sans CN Norm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228367" y="2934463"/>
            <a:ext cx="1460146" cy="137160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marL="0" indent="0" algn="l">
              <a:lnSpc>
                <a:spcPts val="72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6">
                <a:solidFill>
                  <a:srgbClr val="463E41"/>
                </a:solidFill>
                <a:latin typeface="youyou-yisong"/>
                <a:cs typeface="youyou-yisong"/>
                <a:ea typeface="youyou-yisong"/>
              </a:rPr>
              <a:t>30人团队办公室与展厅，位于广州佛山</a:t>
            </a:r>
            <a:endParaRPr sz="600" b="0" spc="6">
              <a:solidFill>
                <a:srgbClr val="463E41"/>
              </a:solidFill>
              <a:latin typeface="youyou-yisong"/>
              <a:cs typeface="youyou-yisong"/>
              <a:ea typeface="youyou-yisong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59274" y="4288610"/>
            <a:ext cx="1570658" cy="426795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marL="0" indent="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463E41"/>
                </a:solidFill>
                <a:latin typeface="Source Han Sans CN Normal"/>
                <a:cs typeface="Source Han Sans CN Normal"/>
                <a:ea typeface="Source Han Sans CN Normal"/>
              </a:rPr>
              <a:t xml:space="preserve">A </a:t>
            </a:r>
            <a:r>
              <a:rPr sz="600" b="0" spc="3">
                <a:solidFill>
                  <a:srgbClr val="463E41"/>
                </a:solidFill>
                <a:latin typeface="Source Han Sans CN Normal"/>
                <a:cs typeface="Source Han Sans CN Normal"/>
                <a:ea typeface="Source Han Sans CN Normal"/>
              </a:rPr>
              <a:t xml:space="preserve">15-member team office and </a:t>
            </a:r>
            <a:endParaRPr sz="600" b="0" spc="3">
              <a:solidFill>
                <a:srgbClr val="463E41"/>
              </a:solidFill>
              <a:latin typeface="Source Han Sans CN Normal"/>
              <a:cs typeface="Source Han Sans CN Normal"/>
              <a:ea typeface="Source Han Sans CN Normal"/>
            </a:endParaRPr>
          </a:p>
          <a:p>
            <a:pPr marL="0" indent="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1">
                <a:solidFill>
                  <a:srgbClr val="463E41"/>
                </a:solidFill>
                <a:latin typeface="Source Han Sans CN Normal"/>
                <a:cs typeface="Source Han Sans CN Normal"/>
                <a:ea typeface="Source Han Sans CN Normal"/>
              </a:rPr>
              <a:t xml:space="preserve">four-storey showroom located in Kuala </a:t>
            </a:r>
            <a:endParaRPr sz="600" b="0" spc="1">
              <a:solidFill>
                <a:srgbClr val="463E41"/>
              </a:solidFill>
              <a:latin typeface="Source Han Sans CN Normal"/>
              <a:cs typeface="Source Han Sans CN Normal"/>
              <a:ea typeface="Source Han Sans CN Normal"/>
            </a:endParaRPr>
          </a:p>
          <a:p>
            <a:pPr marL="0" indent="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-13">
                <a:solidFill>
                  <a:srgbClr val="463E41"/>
                </a:solidFill>
                <a:latin typeface="Source Han Sans CN Normal"/>
                <a:cs typeface="Source Han Sans CN Normal"/>
                <a:ea typeface="Source Han Sans CN Normal"/>
              </a:rPr>
              <a:t>Lumpur, Malaysia.</a:t>
            </a:r>
            <a:endParaRPr sz="600" b="0" spc="-13">
              <a:solidFill>
                <a:srgbClr val="463E41"/>
              </a:solidFill>
              <a:latin typeface="Source Han Sans CN Normal"/>
              <a:cs typeface="Source Han Sans CN Normal"/>
              <a:ea typeface="Source Han Sans CN Normal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59274" y="4789928"/>
            <a:ext cx="1547709" cy="299770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marL="0" indent="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6">
                <a:solidFill>
                  <a:srgbClr val="463E41"/>
                </a:solidFill>
                <a:latin typeface="youyou-yisong"/>
                <a:cs typeface="youyou-yisong"/>
                <a:ea typeface="youyou-yisong"/>
              </a:rPr>
              <a:t>位于马来西亚吉隆坡的15人团队办公室与</a:t>
            </a:r>
            <a:endParaRPr sz="600" b="0" spc="6">
              <a:solidFill>
                <a:srgbClr val="463E41"/>
              </a:solidFill>
              <a:latin typeface="youyou-yisong"/>
              <a:cs typeface="youyou-yisong"/>
              <a:ea typeface="youyou-yisong"/>
            </a:endParaRPr>
          </a:p>
          <a:p>
            <a:pPr marL="0" indent="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6">
                <a:solidFill>
                  <a:srgbClr val="463E41"/>
                </a:solidFill>
                <a:latin typeface="youyou-yisong"/>
                <a:cs typeface="youyou-yisong"/>
                <a:ea typeface="youyou-yisong"/>
              </a:rPr>
              <a:t>四层楼展厅。</a:t>
            </a:r>
            <a:endParaRPr sz="600" b="0" spc="6">
              <a:solidFill>
                <a:srgbClr val="463E41"/>
              </a:solidFill>
              <a:latin typeface="youyou-yisong"/>
              <a:cs typeface="youyou-yisong"/>
              <a:ea typeface="youyou-yisong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 p1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"/>
            <a:ext cx="12191970" cy="685798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830593" y="2131038"/>
            <a:ext cx="628648" cy="205739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marL="0" indent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63E41"/>
                </a:solidFill>
                <a:latin typeface="youyou-yisong"/>
                <a:cs typeface="youyou-yisong"/>
                <a:ea typeface="youyou-yisong"/>
              </a:rPr>
              <a:t>全屋定制</a:t>
            </a:r>
            <a:endParaRPr sz="900" b="0">
              <a:solidFill>
                <a:srgbClr val="463E41"/>
              </a:solidFill>
              <a:latin typeface="youyou-yisong"/>
              <a:cs typeface="youyou-yisong"/>
              <a:ea typeface="youyou-yisong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947922" y="3073242"/>
            <a:ext cx="2207617" cy="307415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marL="0" indent="0" algn="ctr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63E41"/>
                </a:solidFill>
                <a:latin typeface="Source Han Sans CN Normal"/>
                <a:cs typeface="Source Han Sans CN Normal"/>
                <a:ea typeface="Source Han Sans CN Normal"/>
              </a:rPr>
              <a:t xml:space="preserve">RICCIONE REKA shapes spaces through custom </a:t>
            </a:r>
            <a:endParaRPr sz="700" b="0">
              <a:solidFill>
                <a:srgbClr val="463E41"/>
              </a:solidFill>
              <a:latin typeface="Source Han Sans CN Normal"/>
              <a:cs typeface="Source Han Sans CN Normal"/>
              <a:ea typeface="Source Han Sans CN Normal"/>
            </a:endParaRPr>
          </a:p>
          <a:p>
            <a:pPr marL="0" indent="0" algn="ctr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-16">
                <a:solidFill>
                  <a:srgbClr val="463E41"/>
                </a:solidFill>
                <a:latin typeface="Source Han Sans CN Normal"/>
                <a:cs typeface="Source Han Sans CN Normal"/>
                <a:ea typeface="Source Han Sans CN Normal"/>
              </a:rPr>
              <a:t xml:space="preserve">cabinetry — where function and form are </a:t>
            </a:r>
            <a:endParaRPr sz="700" b="0" spc="-16">
              <a:solidFill>
                <a:srgbClr val="463E41"/>
              </a:solidFill>
              <a:latin typeface="Source Han Sans CN Normal"/>
              <a:cs typeface="Source Han Sans CN Normal"/>
              <a:ea typeface="Source Han Sans CN Norm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651080" y="3347675"/>
            <a:ext cx="913890" cy="160020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marL="0" indent="0" algn="l">
              <a:lnSpc>
                <a:spcPts val="84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8">
                <a:solidFill>
                  <a:srgbClr val="463E41"/>
                </a:solidFill>
                <a:latin typeface="Source Han Sans CN Normal"/>
                <a:cs typeface="Source Han Sans CN Normal"/>
                <a:ea typeface="Source Han Sans CN Normal"/>
              </a:rPr>
              <a:t>considered as one.</a:t>
            </a:r>
            <a:endParaRPr sz="700" b="0" spc="8">
              <a:solidFill>
                <a:srgbClr val="463E41"/>
              </a:solidFill>
              <a:latin typeface="Source Han Sans CN Normal"/>
              <a:cs typeface="Source Han Sans CN Normal"/>
              <a:ea typeface="Source Han Sans CN Normal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912574" y="3454355"/>
            <a:ext cx="2278320" cy="307415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marL="0" indent="0" algn="ctr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4">
                <a:solidFill>
                  <a:srgbClr val="463E41"/>
                </a:solidFill>
                <a:latin typeface="Source Han Sans CN Normal"/>
                <a:cs typeface="Source Han Sans CN Normal"/>
                <a:ea typeface="Source Han Sans CN Normal"/>
              </a:rPr>
              <a:t xml:space="preserve">From cabinets to doors and wall panels, each </a:t>
            </a:r>
            <a:endParaRPr sz="700" b="0" spc="4">
              <a:solidFill>
                <a:srgbClr val="463E41"/>
              </a:solidFill>
              <a:latin typeface="Source Han Sans CN Normal"/>
              <a:cs typeface="Source Han Sans CN Normal"/>
              <a:ea typeface="Source Han Sans CN Normal"/>
            </a:endParaRPr>
          </a:p>
          <a:p>
            <a:pPr marL="0" indent="0" algn="ctr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9">
                <a:solidFill>
                  <a:srgbClr val="463E41"/>
                </a:solidFill>
                <a:latin typeface="Source Han Sans CN Normal"/>
                <a:cs typeface="Source Han Sans CN Normal"/>
                <a:ea typeface="Source Han Sans CN Normal"/>
              </a:rPr>
              <a:t xml:space="preserve">element is designed to belong together, creating </a:t>
            </a:r>
            <a:endParaRPr sz="700" b="0" spc="9">
              <a:solidFill>
                <a:srgbClr val="463E41"/>
              </a:solidFill>
              <a:latin typeface="Source Han Sans CN Normal"/>
              <a:cs typeface="Source Han Sans CN Normal"/>
              <a:ea typeface="Source Han Sans CN Norm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160531" y="3728789"/>
            <a:ext cx="1973037" cy="160020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marL="0" indent="0" algn="l">
              <a:lnSpc>
                <a:spcPts val="84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4">
                <a:solidFill>
                  <a:srgbClr val="463E41"/>
                </a:solidFill>
                <a:latin typeface="Source Han Sans CN Normal"/>
                <a:cs typeface="Source Han Sans CN Normal"/>
                <a:ea typeface="Source Han Sans CN Normal"/>
              </a:rPr>
              <a:t>spaces that feel calm, clear, and complete.</a:t>
            </a:r>
            <a:endParaRPr sz="700" b="0" spc="4">
              <a:solidFill>
                <a:srgbClr val="463E41"/>
              </a:solidFill>
              <a:latin typeface="Source Han Sans CN Normal"/>
              <a:cs typeface="Source Han Sans CN Normal"/>
              <a:ea typeface="Source Han Sans CN Norm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11713" y="3962417"/>
            <a:ext cx="2329708" cy="434453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marL="0" indent="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-5">
                <a:solidFill>
                  <a:srgbClr val="463E41"/>
                </a:solidFill>
                <a:latin typeface="Source Han Sans CN Normal"/>
                <a:cs typeface="Source Han Sans CN Normal"/>
                <a:ea typeface="Source Han Sans CN Normal"/>
              </a:rPr>
              <a:t xml:space="preserve">Within this system, Sail by Riccione Reka emerges </a:t>
            </a:r>
            <a:endParaRPr sz="700" b="0" spc="-5">
              <a:solidFill>
                <a:srgbClr val="463E41"/>
              </a:solidFill>
              <a:latin typeface="Source Han Sans CN Normal"/>
              <a:cs typeface="Source Han Sans CN Normal"/>
              <a:ea typeface="Source Han Sans CN Normal"/>
            </a:endParaRPr>
          </a:p>
          <a:p>
            <a:pPr marL="0" indent="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-2">
                <a:solidFill>
                  <a:srgbClr val="463E41"/>
                </a:solidFill>
                <a:latin typeface="Source Han Sans CN Normal"/>
                <a:cs typeface="Source Han Sans CN Normal"/>
                <a:ea typeface="Source Han Sans CN Normal"/>
              </a:rPr>
              <a:t xml:space="preserve">as a natural expression — a brand that brings a </a:t>
            </a:r>
            <a:endParaRPr sz="700" b="0" spc="-2">
              <a:solidFill>
                <a:srgbClr val="463E41"/>
              </a:solidFill>
              <a:latin typeface="Source Han Sans CN Normal"/>
              <a:cs typeface="Source Han Sans CN Normal"/>
              <a:ea typeface="Source Han Sans CN Normal"/>
            </a:endParaRPr>
          </a:p>
          <a:p>
            <a:pPr marL="0" indent="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-7">
                <a:solidFill>
                  <a:srgbClr val="463E41"/>
                </a:solidFill>
                <a:latin typeface="Source Han Sans CN Normal"/>
                <a:cs typeface="Source Han Sans CN Normal"/>
                <a:ea typeface="Source Han Sans CN Normal"/>
              </a:rPr>
              <a:t>quieter, more intentional way of living into space.</a:t>
            </a:r>
            <a:endParaRPr sz="700" b="0" spc="-7">
              <a:solidFill>
                <a:srgbClr val="463E41"/>
              </a:solidFill>
              <a:latin typeface="Source Han Sans CN Normal"/>
              <a:cs typeface="Source Han Sans CN Normal"/>
              <a:ea typeface="Source Han Sans CN Normal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139753" y="4502179"/>
            <a:ext cx="2063272" cy="137160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marL="0" indent="0" algn="l">
              <a:lnSpc>
                <a:spcPts val="72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6">
                <a:solidFill>
                  <a:srgbClr val="463E41"/>
                </a:solidFill>
                <a:latin typeface="Source Han Sans CN Normal"/>
                <a:cs typeface="Source Han Sans CN Normal"/>
                <a:ea typeface="Source Han Sans CN Normal"/>
              </a:rPr>
              <a:t>RICCIONE REKA 通过定制橱柜，构建空间的整体关系。</a:t>
            </a:r>
            <a:endParaRPr sz="600" b="0" spc="6">
              <a:solidFill>
                <a:srgbClr val="463E41"/>
              </a:solidFill>
              <a:latin typeface="Source Han Sans CN Normal"/>
              <a:cs typeface="Source Han Sans CN Normal"/>
              <a:ea typeface="Source Han Sans CN Normal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001984" y="4629204"/>
            <a:ext cx="2328178" cy="137160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marL="0" indent="0" algn="l">
              <a:lnSpc>
                <a:spcPts val="72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6">
                <a:solidFill>
                  <a:srgbClr val="463E41"/>
                </a:solidFill>
                <a:latin typeface="Source Han Sans CN Normal"/>
                <a:cs typeface="Source Han Sans CN Normal"/>
                <a:ea typeface="Source Han Sans CN Normal"/>
              </a:rPr>
              <a:t>从柜体、门到墙面，不再是单独存在，而是彼此归属，让空间回归</a:t>
            </a:r>
            <a:endParaRPr sz="600" b="0" spc="6">
              <a:solidFill>
                <a:srgbClr val="463E41"/>
              </a:solidFill>
              <a:latin typeface="Source Han Sans CN Normal"/>
              <a:cs typeface="Source Han Sans CN Normal"/>
              <a:ea typeface="Source Han Sans CN Norm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829895" y="4756229"/>
            <a:ext cx="576147" cy="137160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marL="0" indent="0" algn="l">
              <a:lnSpc>
                <a:spcPts val="72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6">
                <a:solidFill>
                  <a:srgbClr val="463E41"/>
                </a:solidFill>
                <a:latin typeface="Source Han Sans CN Normal"/>
                <a:cs typeface="Source Han Sans CN Normal"/>
                <a:ea typeface="Source Han Sans CN Normal"/>
              </a:rPr>
              <a:t>清晰与完整。</a:t>
            </a:r>
            <a:endParaRPr sz="600" b="0" spc="6">
              <a:solidFill>
                <a:srgbClr val="463E41"/>
              </a:solidFill>
              <a:latin typeface="Source Han Sans CN Normal"/>
              <a:cs typeface="Source Han Sans CN Normal"/>
              <a:ea typeface="Source Han Sans CN Norm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34522" y="5010203"/>
            <a:ext cx="2255380" cy="137160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marL="0" indent="0" algn="l">
              <a:lnSpc>
                <a:spcPts val="72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5">
                <a:solidFill>
                  <a:srgbClr val="463E41"/>
                </a:solidFill>
                <a:latin typeface="Source Han Sans CN Normal"/>
                <a:cs typeface="Source Han Sans CN Normal"/>
                <a:ea typeface="Source Han Sans CN Normal"/>
              </a:rPr>
              <a:t>在这一体系之中，Sail by Riccione Reka（溪岸） 自然延展⸺</a:t>
            </a:r>
            <a:endParaRPr sz="600" b="0" spc="5">
              <a:solidFill>
                <a:srgbClr val="463E41"/>
              </a:solidFill>
              <a:latin typeface="Source Han Sans CN Normal"/>
              <a:cs typeface="Source Han Sans CN Normal"/>
              <a:ea typeface="Source Han Sans CN Norm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290782" y="5137228"/>
            <a:ext cx="1724882" cy="137160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marL="0" indent="0" algn="l">
              <a:lnSpc>
                <a:spcPts val="72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6">
                <a:solidFill>
                  <a:srgbClr val="463E41"/>
                </a:solidFill>
                <a:latin typeface="Source Han Sans CN Normal"/>
                <a:cs typeface="Source Han Sans CN Normal"/>
                <a:ea typeface="Source Han Sans CN Normal"/>
              </a:rPr>
              <a:t>以更安静、更有节奏的方式，让美好生活发生。</a:t>
            </a:r>
            <a:endParaRPr sz="600" b="0" spc="6">
              <a:solidFill>
                <a:srgbClr val="463E41"/>
              </a:solidFill>
              <a:latin typeface="Source Han Sans CN Normal"/>
              <a:cs typeface="Source Han Sans CN Normal"/>
              <a:ea typeface="Source Han Sans CN Norm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 p1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"/>
            <a:ext cx="12191970" cy="685798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392591" y="2620558"/>
            <a:ext cx="2072699" cy="590739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marL="0" indent="0" algn="ctr">
              <a:lnSpc>
                <a:spcPts val="1801"/>
              </a:lnSpc>
              <a:spcBef>
                <a:spcPts val="0"/>
              </a:spcBef>
              <a:spcAft>
                <a:spcPts val="0"/>
              </a:spcAft>
            </a:pPr>
            <a:r>
              <a:rPr sz="1750" b="1" spc="35">
                <a:solidFill>
                  <a:srgbClr val="1E1C18"/>
                </a:solidFill>
                <a:latin typeface="Sabon LT Std"/>
                <a:cs typeface="Sabon LT Std"/>
                <a:ea typeface="Sabon LT Std"/>
              </a:rPr>
              <a:t>About Sail</a:t>
            </a:r>
            <a:endParaRPr sz="1750" b="1" spc="35">
              <a:solidFill>
                <a:srgbClr val="1E1C18"/>
              </a:solidFill>
              <a:latin typeface="Sabon LT Std"/>
              <a:cs typeface="Sabon LT Std"/>
              <a:ea typeface="Sabon LT Std"/>
            </a:endParaRPr>
          </a:p>
          <a:p>
            <a:pPr marL="0" indent="0" algn="ctr">
              <a:lnSpc>
                <a:spcPts val="1801"/>
              </a:lnSpc>
              <a:spcBef>
                <a:spcPts val="0"/>
              </a:spcBef>
              <a:spcAft>
                <a:spcPts val="0"/>
              </a:spcAft>
            </a:pPr>
            <a:r>
              <a:rPr sz="1750" b="1" spc="35">
                <a:solidFill>
                  <a:srgbClr val="1E1C18"/>
                </a:solidFill>
                <a:latin typeface="Sabon LT Std"/>
                <a:cs typeface="Sabon LT Std"/>
                <a:ea typeface="Sabon LT Std"/>
              </a:rPr>
              <a:t>by Riccione Reka</a:t>
            </a:r>
            <a:endParaRPr sz="1750" b="1" spc="35">
              <a:solidFill>
                <a:srgbClr val="1E1C18"/>
              </a:solidFill>
              <a:latin typeface="Sabon LT Std"/>
              <a:cs typeface="Sabon LT Std"/>
              <a:ea typeface="Sabon LT Std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062875" y="2882692"/>
            <a:ext cx="1486185" cy="137160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marL="0" indent="0" algn="l">
              <a:lnSpc>
                <a:spcPts val="72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-5">
                <a:solidFill>
                  <a:srgbClr val="EAE9E8"/>
                </a:solidFill>
                <a:latin typeface="Source Han Sans CN Normal"/>
                <a:cs typeface="Source Han Sans CN Normal"/>
                <a:ea typeface="Source Han Sans CN Normal"/>
              </a:rPr>
              <a:t>In the Sail, return to the beauty of life</a:t>
            </a:r>
            <a:endParaRPr sz="600" b="0" spc="-5">
              <a:solidFill>
                <a:srgbClr val="EAE9E8"/>
              </a:solidFill>
              <a:latin typeface="Source Han Sans CN Normal"/>
              <a:cs typeface="Source Han Sans CN Normal"/>
              <a:ea typeface="Source Han Sans CN Norm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062875" y="3136666"/>
            <a:ext cx="922017" cy="137160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marL="0" indent="0" algn="l">
              <a:lnSpc>
                <a:spcPts val="72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6">
                <a:solidFill>
                  <a:srgbClr val="EAE9E8"/>
                </a:solidFill>
                <a:latin typeface="Source Han Sans CN Normal"/>
                <a:cs typeface="Source Han Sans CN Normal"/>
                <a:ea typeface="Source Han Sans CN Normal"/>
              </a:rPr>
              <a:t>在溪岸，回归生活的美好</a:t>
            </a:r>
            <a:endParaRPr sz="600" b="0" spc="6">
              <a:solidFill>
                <a:srgbClr val="EAE9E8"/>
              </a:solidFill>
              <a:latin typeface="Source Han Sans CN Normal"/>
              <a:cs typeface="Source Han Sans CN Normal"/>
              <a:ea typeface="Source Han Sans CN Normal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126197" y="3112987"/>
            <a:ext cx="869471" cy="285749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spc="-3">
                <a:solidFill>
                  <a:srgbClr val="131210"/>
                </a:solidFill>
                <a:latin typeface="youyou-yisong"/>
                <a:cs typeface="youyou-yisong"/>
                <a:ea typeface="youyou-yisong"/>
              </a:rPr>
              <a:t>认识溪岸</a:t>
            </a:r>
            <a:endParaRPr sz="1250" b="0" spc="-3">
              <a:solidFill>
                <a:srgbClr val="131210"/>
              </a:solidFill>
              <a:latin typeface="youyou-yisong"/>
              <a:cs typeface="youyou-yisong"/>
              <a:ea typeface="youyou-yisong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062875" y="3355054"/>
            <a:ext cx="2270871" cy="680846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marL="0" indent="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3">
                <a:solidFill>
                  <a:srgbClr val="EAE9E8"/>
                </a:solidFill>
                <a:latin typeface="Source Han Sans CN Normal"/>
                <a:cs typeface="Source Han Sans CN Normal"/>
                <a:ea typeface="Source Han Sans CN Normal"/>
              </a:rPr>
              <a:t xml:space="preserve">Sail founded in Chengdu in </a:t>
            </a:r>
            <a:r>
              <a:rPr sz="600" b="0" spc="-3">
                <a:solidFill>
                  <a:srgbClr val="EAE9E8"/>
                </a:solidFill>
                <a:latin typeface="Source Han Sans CN Normal"/>
                <a:cs typeface="Source Han Sans CN Normal"/>
                <a:ea typeface="Source Han Sans CN Normal"/>
              </a:rPr>
              <a:t xml:space="preserve">2011, Sail embodies the </a:t>
            </a:r>
            <a:endParaRPr sz="600" b="0" spc="-3">
              <a:solidFill>
                <a:srgbClr val="EAE9E8"/>
              </a:solidFill>
              <a:latin typeface="Source Han Sans CN Normal"/>
              <a:cs typeface="Source Han Sans CN Normal"/>
              <a:ea typeface="Source Han Sans CN Normal"/>
            </a:endParaRPr>
          </a:p>
          <a:p>
            <a:pPr marL="0" indent="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-5">
                <a:solidFill>
                  <a:srgbClr val="EAE9E8"/>
                </a:solidFill>
                <a:latin typeface="Source Han Sans CN Normal"/>
                <a:cs typeface="Source Han Sans CN Normal"/>
                <a:ea typeface="Source Han Sans CN Normal"/>
              </a:rPr>
              <a:t>pursuit of an ideal life.</a:t>
            </a:r>
            <a:endParaRPr sz="600" b="0" spc="-5">
              <a:solidFill>
                <a:srgbClr val="EAE9E8"/>
              </a:solidFill>
              <a:latin typeface="Source Han Sans CN Normal"/>
              <a:cs typeface="Source Han Sans CN Normal"/>
              <a:ea typeface="Source Han Sans CN Normal"/>
            </a:endParaRPr>
          </a:p>
          <a:p>
            <a:pPr marL="0" indent="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EAE9E8"/>
                </a:solidFill>
                <a:latin typeface="Source Han Sans CN Normal"/>
                <a:cs typeface="Source Han Sans CN Normal"/>
                <a:ea typeface="Source Han Sans CN Normal"/>
              </a:rPr>
              <a:t xml:space="preserve">With nature as our source, we bring design back to </a:t>
            </a:r>
            <a:endParaRPr sz="600" b="0">
              <a:solidFill>
                <a:srgbClr val="EAE9E8"/>
              </a:solidFill>
              <a:latin typeface="Source Han Sans CN Normal"/>
              <a:cs typeface="Source Han Sans CN Normal"/>
              <a:ea typeface="Source Han Sans CN Normal"/>
            </a:endParaRPr>
          </a:p>
          <a:p>
            <a:pPr marL="0" indent="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-2">
                <a:solidFill>
                  <a:srgbClr val="EAE9E8"/>
                </a:solidFill>
                <a:latin typeface="Source Han Sans CN Normal"/>
                <a:cs typeface="Source Han Sans CN Normal"/>
                <a:ea typeface="Source Han Sans CN Normal"/>
              </a:rPr>
              <a:t xml:space="preserve">serenity and beauty. We believe that the warmth of home </a:t>
            </a:r>
            <a:endParaRPr sz="600" b="0" spc="-2">
              <a:solidFill>
                <a:srgbClr val="EAE9E8"/>
              </a:solidFill>
              <a:latin typeface="Source Han Sans CN Normal"/>
              <a:cs typeface="Source Han Sans CN Normal"/>
              <a:ea typeface="Source Han Sans CN Normal"/>
            </a:endParaRPr>
          </a:p>
          <a:p>
            <a:pPr marL="0" indent="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7">
                <a:solidFill>
                  <a:srgbClr val="EAE9E8"/>
                </a:solidFill>
                <a:latin typeface="Source Han Sans CN Normal"/>
                <a:cs typeface="Source Han Sans CN Normal"/>
                <a:ea typeface="Source Han Sans CN Normal"/>
              </a:rPr>
              <a:t>is something that deepens over time.</a:t>
            </a:r>
            <a:endParaRPr sz="600" b="0" spc="7">
              <a:solidFill>
                <a:srgbClr val="EAE9E8"/>
              </a:solidFill>
              <a:latin typeface="Source Han Sans CN Normal"/>
              <a:cs typeface="Source Han Sans CN Normal"/>
              <a:ea typeface="Source Han Sans CN Norm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062875" y="4117129"/>
            <a:ext cx="2044589" cy="426795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marL="0" indent="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6">
                <a:solidFill>
                  <a:srgbClr val="EAE9E8"/>
                </a:solidFill>
                <a:latin typeface="Source Han Sans CN Normal"/>
                <a:cs typeface="Source Han Sans CN Normal"/>
                <a:ea typeface="Source Han Sans CN Normal"/>
              </a:rPr>
              <a:t>溪岸于2011年创立于成都，承载着对理想生活的追求。</a:t>
            </a:r>
            <a:endParaRPr sz="600" b="0" spc="6">
              <a:solidFill>
                <a:srgbClr val="EAE9E8"/>
              </a:solidFill>
              <a:latin typeface="Source Han Sans CN Normal"/>
              <a:cs typeface="Source Han Sans CN Normal"/>
              <a:ea typeface="Source Han Sans CN Normal"/>
            </a:endParaRPr>
          </a:p>
          <a:p>
            <a:pPr marL="0" indent="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6">
                <a:solidFill>
                  <a:srgbClr val="EAE9E8"/>
                </a:solidFill>
                <a:latin typeface="Source Han Sans CN Normal"/>
                <a:cs typeface="Source Han Sans CN Normal"/>
                <a:ea typeface="Source Han Sans CN Normal"/>
              </a:rPr>
              <a:t>以自然为源，让设计回归宁静与美好。</a:t>
            </a:r>
            <a:endParaRPr sz="600" b="0" spc="6">
              <a:solidFill>
                <a:srgbClr val="EAE9E8"/>
              </a:solidFill>
              <a:latin typeface="Source Han Sans CN Normal"/>
              <a:cs typeface="Source Han Sans CN Normal"/>
              <a:ea typeface="Source Han Sans CN Normal"/>
            </a:endParaRPr>
          </a:p>
          <a:p>
            <a:pPr marL="0" indent="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6">
                <a:solidFill>
                  <a:srgbClr val="EAE9E8"/>
                </a:solidFill>
                <a:latin typeface="Source Han Sans CN Normal"/>
                <a:cs typeface="Source Han Sans CN Normal"/>
                <a:ea typeface="Source Han Sans CN Normal"/>
              </a:rPr>
              <a:t>我们相信:家的温度，能在时光中沉淀。</a:t>
            </a:r>
            <a:endParaRPr sz="600" b="0" spc="6">
              <a:solidFill>
                <a:srgbClr val="EAE9E8"/>
              </a:solidFill>
              <a:latin typeface="Source Han Sans CN Normal"/>
              <a:cs typeface="Source Han Sans CN Normal"/>
              <a:ea typeface="Source Han Sans CN Norm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 p1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"/>
            <a:ext cx="12191970" cy="685798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28225" y="4175453"/>
            <a:ext cx="1652900" cy="285749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spc="25">
                <a:solidFill>
                  <a:srgbClr val="1E1C18"/>
                </a:solidFill>
                <a:latin typeface="Sabon LT Std"/>
                <a:cs typeface="Sabon LT Std"/>
                <a:ea typeface="Sabon LT Std"/>
              </a:rPr>
              <a:t>Skeleton Line Series</a:t>
            </a:r>
            <a:endParaRPr sz="1250" b="1" spc="25">
              <a:solidFill>
                <a:srgbClr val="1E1C18"/>
              </a:solidFill>
              <a:latin typeface="Sabon LT Std"/>
              <a:cs typeface="Sabon LT Std"/>
              <a:ea typeface="Sabon LT Std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980180" y="4175453"/>
            <a:ext cx="1862924" cy="285749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spc="25">
                <a:solidFill>
                  <a:srgbClr val="1E1C18"/>
                </a:solidFill>
                <a:latin typeface="Sabon LT Std"/>
                <a:cs typeface="Sabon LT Std"/>
                <a:ea typeface="Sabon LT Std"/>
              </a:rPr>
              <a:t>Misty Mountain Series</a:t>
            </a:r>
            <a:endParaRPr sz="1250" b="1" spc="25">
              <a:solidFill>
                <a:srgbClr val="1E1C18"/>
              </a:solidFill>
              <a:latin typeface="Sabon LT Std"/>
              <a:cs typeface="Sabon LT Std"/>
              <a:ea typeface="Sabon LT Std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41752" y="4155222"/>
            <a:ext cx="456945" cy="400049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>
                <a:solidFill>
                  <a:srgbClr val="1E1C18"/>
                </a:solidFill>
                <a:latin typeface="Sabon LT Std"/>
                <a:cs typeface="Sabon LT Std"/>
                <a:ea typeface="Sabon LT Std"/>
              </a:rPr>
              <a:t>1</a:t>
            </a:r>
            <a:endParaRPr sz="1750" b="1">
              <a:solidFill>
                <a:srgbClr val="1E1C18"/>
              </a:solidFill>
              <a:latin typeface="Sabon LT Std"/>
              <a:cs typeface="Sabon LT Std"/>
              <a:ea typeface="Sabon LT Std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693700" y="4155222"/>
            <a:ext cx="456945" cy="400049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>
                <a:solidFill>
                  <a:srgbClr val="1E1C18"/>
                </a:solidFill>
                <a:latin typeface="Sabon LT Std"/>
                <a:cs typeface="Sabon LT Std"/>
                <a:ea typeface="Sabon LT Std"/>
              </a:rPr>
              <a:t>4</a:t>
            </a:r>
            <a:endParaRPr sz="1750" b="1">
              <a:solidFill>
                <a:srgbClr val="1E1C18"/>
              </a:solidFill>
              <a:latin typeface="Sabon LT Std"/>
              <a:cs typeface="Sabon LT Std"/>
              <a:ea typeface="Sabon LT Std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516611" y="4093399"/>
            <a:ext cx="1590671" cy="571499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marL="0" indent="0" algn="l">
              <a:lnSpc>
                <a:spcPts val="3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spc="50">
                <a:solidFill>
                  <a:srgbClr val="1E1C18"/>
                </a:solidFill>
                <a:latin typeface="Sabon LT Std"/>
                <a:cs typeface="Sabon LT Std"/>
                <a:ea typeface="Sabon LT Std"/>
              </a:rPr>
              <a:t>Product</a:t>
            </a:r>
            <a:endParaRPr sz="2500" b="1" spc="50">
              <a:solidFill>
                <a:srgbClr val="1E1C18"/>
              </a:solidFill>
              <a:latin typeface="Sabon LT Std"/>
              <a:cs typeface="Sabon LT Std"/>
              <a:ea typeface="Sabon LT Std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738226" y="4378177"/>
            <a:ext cx="1031078" cy="285749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31210"/>
                </a:solidFill>
                <a:latin typeface="youyou-yisong"/>
                <a:cs typeface="youyou-yisong"/>
                <a:ea typeface="youyou-yisong"/>
              </a:rPr>
              <a:t>骨骼线系列</a:t>
            </a:r>
            <a:endParaRPr sz="1250" b="0">
              <a:solidFill>
                <a:srgbClr val="131210"/>
              </a:solidFill>
              <a:latin typeface="youyou-yisong"/>
              <a:cs typeface="youyou-yisong"/>
              <a:ea typeface="youyou-yisong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990181" y="4378177"/>
            <a:ext cx="873123" cy="285749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31210"/>
                </a:solidFill>
                <a:latin typeface="youyou-yisong"/>
                <a:cs typeface="youyou-yisong"/>
                <a:ea typeface="youyou-yisong"/>
              </a:rPr>
              <a:t>雾山系列</a:t>
            </a:r>
            <a:endParaRPr sz="1250" b="0">
              <a:solidFill>
                <a:srgbClr val="131210"/>
              </a:solidFill>
              <a:latin typeface="youyou-yisong"/>
              <a:cs typeface="youyou-yisong"/>
              <a:ea typeface="youyou-yisong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737527" y="4470473"/>
            <a:ext cx="873123" cy="285749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31210"/>
                </a:solidFill>
                <a:latin typeface="youyou-yisong"/>
                <a:cs typeface="youyou-yisong"/>
                <a:ea typeface="youyou-yisong"/>
              </a:rPr>
              <a:t>溪岸产品</a:t>
            </a:r>
            <a:endParaRPr sz="1250" b="0">
              <a:solidFill>
                <a:srgbClr val="131210"/>
              </a:solidFill>
              <a:latin typeface="youyou-yisong"/>
              <a:cs typeface="youyou-yisong"/>
              <a:ea typeface="youyou-yisong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728225" y="5105929"/>
            <a:ext cx="1915789" cy="285749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spc="25">
                <a:solidFill>
                  <a:srgbClr val="1E1C18"/>
                </a:solidFill>
                <a:latin typeface="Sabon LT Std"/>
                <a:cs typeface="Sabon LT Std"/>
                <a:ea typeface="Sabon LT Std"/>
              </a:rPr>
              <a:t>Empty Mountain Series</a:t>
            </a:r>
            <a:endParaRPr sz="1250" b="1" spc="25">
              <a:solidFill>
                <a:srgbClr val="1E1C18"/>
              </a:solidFill>
              <a:latin typeface="Sabon LT Std"/>
              <a:cs typeface="Sabon LT Std"/>
              <a:ea typeface="Sabon LT Std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980180" y="5105929"/>
            <a:ext cx="1597814" cy="285749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spc="25">
                <a:solidFill>
                  <a:srgbClr val="1E1C18"/>
                </a:solidFill>
                <a:latin typeface="Sabon LT Std"/>
                <a:cs typeface="Sabon LT Std"/>
                <a:ea typeface="Sabon LT Std"/>
              </a:rPr>
              <a:t>Wabi - Sabi Eastern</a:t>
            </a:r>
            <a:endParaRPr sz="1250" b="1" spc="25">
              <a:solidFill>
                <a:srgbClr val="1E1C18"/>
              </a:solidFill>
              <a:latin typeface="Sabon LT Std"/>
              <a:cs typeface="Sabon LT Std"/>
              <a:ea typeface="Sabon LT Std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441752" y="5085705"/>
            <a:ext cx="456945" cy="400049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>
                <a:solidFill>
                  <a:srgbClr val="1E1C18"/>
                </a:solidFill>
                <a:latin typeface="Sabon LT Std"/>
                <a:cs typeface="Sabon LT Std"/>
                <a:ea typeface="Sabon LT Std"/>
              </a:rPr>
              <a:t>2</a:t>
            </a:r>
            <a:endParaRPr sz="1750" b="1">
              <a:solidFill>
                <a:srgbClr val="1E1C18"/>
              </a:solidFill>
              <a:latin typeface="Sabon LT Std"/>
              <a:cs typeface="Sabon LT Std"/>
              <a:ea typeface="Sabon LT Std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693700" y="5085705"/>
            <a:ext cx="456945" cy="400049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>
                <a:solidFill>
                  <a:srgbClr val="1E1C18"/>
                </a:solidFill>
                <a:latin typeface="Sabon LT Std"/>
                <a:cs typeface="Sabon LT Std"/>
                <a:ea typeface="Sabon LT Std"/>
              </a:rPr>
              <a:t>5</a:t>
            </a:r>
            <a:endParaRPr sz="1750" b="1">
              <a:solidFill>
                <a:srgbClr val="1E1C18"/>
              </a:solidFill>
              <a:latin typeface="Sabon LT Std"/>
              <a:cs typeface="Sabon LT Std"/>
              <a:ea typeface="Sabon LT Std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738226" y="5308653"/>
            <a:ext cx="873123" cy="285749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31210"/>
                </a:solidFill>
                <a:latin typeface="youyou-yisong"/>
                <a:cs typeface="youyou-yisong"/>
                <a:ea typeface="youyou-yisong"/>
              </a:rPr>
              <a:t>空山系列</a:t>
            </a:r>
            <a:endParaRPr sz="1250" b="0">
              <a:solidFill>
                <a:srgbClr val="131210"/>
              </a:solidFill>
              <a:latin typeface="youyou-yisong"/>
              <a:cs typeface="youyou-yisong"/>
              <a:ea typeface="youyou-yisong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015581" y="5308653"/>
            <a:ext cx="1189193" cy="285749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31210"/>
                </a:solidFill>
                <a:latin typeface="youyou-yisong"/>
                <a:cs typeface="youyou-yisong"/>
                <a:ea typeface="youyou-yisong"/>
              </a:rPr>
              <a:t xml:space="preserve">   寂东方系列</a:t>
            </a:r>
            <a:endParaRPr sz="1250" b="0">
              <a:solidFill>
                <a:srgbClr val="131210"/>
              </a:solidFill>
              <a:latin typeface="youyou-yisong"/>
              <a:cs typeface="youyou-yisong"/>
              <a:ea typeface="youyou-yisong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9028344" y="5322373"/>
            <a:ext cx="360836" cy="266859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marL="0" indent="0" algn="l">
              <a:lnSpc>
                <a:spcPts val="1401"/>
              </a:lnSpc>
              <a:spcBef>
                <a:spcPts val="0"/>
              </a:spcBef>
              <a:spcAft>
                <a:spcPts val="0"/>
              </a:spcAft>
            </a:pPr>
            <a:r>
              <a:rPr sz="1167" b="0">
                <a:solidFill>
                  <a:srgbClr val="131210"/>
                </a:solidFill>
                <a:latin typeface="youyou-yisong"/>
                <a:cs typeface="youyou-yisong"/>
                <a:ea typeface="youyou-yisong"/>
              </a:rPr>
              <a:t>宅</a:t>
            </a:r>
            <a:endParaRPr sz="1167" b="0">
              <a:solidFill>
                <a:srgbClr val="131210"/>
              </a:solidFill>
              <a:latin typeface="youyou-yisong"/>
              <a:cs typeface="youyou-yisong"/>
              <a:ea typeface="youyou-yisong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991196" y="5314317"/>
            <a:ext cx="396874" cy="285749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31210"/>
                </a:solidFill>
                <a:latin typeface="youyou-yisong"/>
                <a:cs typeface="youyou-yisong"/>
                <a:ea typeface="youyou-yisong"/>
              </a:rPr>
              <a:t>仁</a:t>
            </a:r>
            <a:endParaRPr sz="1250" b="0">
              <a:solidFill>
                <a:srgbClr val="131210"/>
              </a:solidFill>
              <a:latin typeface="youyou-yisong"/>
              <a:cs typeface="youyou-yisong"/>
              <a:ea typeface="youyou-yisong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728225" y="6020493"/>
            <a:ext cx="1295714" cy="285749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spc="25">
                <a:solidFill>
                  <a:srgbClr val="1E1C18"/>
                </a:solidFill>
                <a:latin typeface="Sabon LT Std"/>
                <a:cs typeface="Sabon LT Std"/>
                <a:ea typeface="Sabon LT Std"/>
              </a:rPr>
              <a:t>Weaving Series</a:t>
            </a:r>
            <a:endParaRPr sz="1250" b="1" spc="25">
              <a:solidFill>
                <a:srgbClr val="1E1C18"/>
              </a:solidFill>
              <a:latin typeface="Sabon LT Std"/>
              <a:cs typeface="Sabon LT Std"/>
              <a:ea typeface="Sabon LT Std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441752" y="6000261"/>
            <a:ext cx="456945" cy="400049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>
                <a:solidFill>
                  <a:srgbClr val="1E1C18"/>
                </a:solidFill>
                <a:latin typeface="Sabon LT Std"/>
                <a:cs typeface="Sabon LT Std"/>
                <a:ea typeface="Sabon LT Std"/>
              </a:rPr>
              <a:t>3</a:t>
            </a:r>
            <a:endParaRPr sz="1750" b="1">
              <a:solidFill>
                <a:srgbClr val="1E1C18"/>
              </a:solidFill>
              <a:latin typeface="Sabon LT Std"/>
              <a:cs typeface="Sabon LT Std"/>
              <a:ea typeface="Sabon LT Std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738226" y="6223217"/>
            <a:ext cx="713421" cy="285749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spc="-4">
                <a:solidFill>
                  <a:srgbClr val="131210"/>
                </a:solidFill>
                <a:latin typeface="youyou-yisong"/>
                <a:cs typeface="youyou-yisong"/>
                <a:ea typeface="youyou-yisong"/>
              </a:rPr>
              <a:t>织系列</a:t>
            </a:r>
            <a:endParaRPr sz="1250" b="0" spc="-4">
              <a:solidFill>
                <a:srgbClr val="131210"/>
              </a:solidFill>
              <a:latin typeface="youyou-yisong"/>
              <a:cs typeface="youyou-yisong"/>
              <a:ea typeface="youyou-yisong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 p1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"/>
            <a:ext cx="12191970" cy="685798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28023" y="3769010"/>
            <a:ext cx="2314061" cy="400049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 spc="35">
                <a:solidFill>
                  <a:srgbClr val="1E1C18"/>
                </a:solidFill>
                <a:latin typeface="Sabon LT Std"/>
                <a:cs typeface="Sabon LT Std"/>
                <a:ea typeface="Sabon LT Std"/>
              </a:rPr>
              <a:t>Skeleton Line Series</a:t>
            </a:r>
            <a:endParaRPr sz="1750" b="1" spc="35">
              <a:solidFill>
                <a:srgbClr val="1E1C18"/>
              </a:solidFill>
              <a:latin typeface="Sabon LT Std"/>
              <a:cs typeface="Sabon LT Std"/>
              <a:ea typeface="Sabon LT Std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754221" y="4111769"/>
            <a:ext cx="1031079" cy="285749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31210"/>
                </a:solidFill>
                <a:latin typeface="youyou-yisong"/>
                <a:cs typeface="youyou-yisong"/>
                <a:ea typeface="youyou-yisong"/>
              </a:rPr>
              <a:t>骨骼线系列</a:t>
            </a:r>
            <a:endParaRPr sz="1250" b="0">
              <a:solidFill>
                <a:srgbClr val="131210"/>
              </a:solidFill>
              <a:latin typeface="youyou-yisong"/>
              <a:cs typeface="youyou-yisong"/>
              <a:ea typeface="youyou-yisong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219229" y="5070966"/>
            <a:ext cx="2528036" cy="510639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marL="0" indent="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7">
                <a:solidFill>
                  <a:srgbClr val="463E41"/>
                </a:solidFill>
                <a:latin typeface="Source Han Sans CN Normal"/>
                <a:cs typeface="Source Han Sans CN Normal"/>
                <a:ea typeface="Source Han Sans CN Normal"/>
              </a:rPr>
              <a:t xml:space="preserve">A dialogue between the classical and the modern. </a:t>
            </a:r>
            <a:endParaRPr sz="700" b="0" spc="7">
              <a:solidFill>
                <a:srgbClr val="463E41"/>
              </a:solidFill>
              <a:latin typeface="Source Han Sans CN Normal"/>
              <a:cs typeface="Source Han Sans CN Normal"/>
              <a:ea typeface="Source Han Sans CN Normal"/>
            </a:endParaRPr>
          </a:p>
          <a:p>
            <a:pPr marL="0" indent="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-16">
                <a:solidFill>
                  <a:srgbClr val="463E41"/>
                </a:solidFill>
                <a:latin typeface="Source Han Sans CN Normal"/>
                <a:cs typeface="Source Han Sans CN Normal"/>
                <a:ea typeface="Source Han Sans CN Normal"/>
              </a:rPr>
              <a:t xml:space="preserve">Lines create depth, bringing a rhythm of natural light </a:t>
            </a:r>
            <a:endParaRPr sz="700" b="0" spc="-16">
              <a:solidFill>
                <a:srgbClr val="463E41"/>
              </a:solidFill>
              <a:latin typeface="Source Han Sans CN Normal"/>
              <a:cs typeface="Source Han Sans CN Normal"/>
              <a:ea typeface="Source Han Sans CN Normal"/>
            </a:endParaRPr>
          </a:p>
          <a:p>
            <a:pPr marL="0" indent="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3">
                <a:solidFill>
                  <a:srgbClr val="463E41"/>
                </a:solidFill>
                <a:latin typeface="Source Han Sans CN Normal"/>
                <a:cs typeface="Source Han Sans CN Normal"/>
                <a:ea typeface="Source Han Sans CN Normal"/>
              </a:rPr>
              <a:t>and shadow to the cabinetry.</a:t>
            </a:r>
            <a:endParaRPr sz="700" b="0" spc="3">
              <a:solidFill>
                <a:srgbClr val="463E41"/>
              </a:solidFill>
              <a:latin typeface="Source Han Sans CN Normal"/>
              <a:cs typeface="Source Han Sans CN Normal"/>
              <a:ea typeface="Source Han Sans CN Normal"/>
            </a:endParaRPr>
          </a:p>
          <a:p>
            <a:pPr marL="0" indent="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-11">
                <a:solidFill>
                  <a:srgbClr val="463E41"/>
                </a:solidFill>
                <a:latin typeface="Source Han Sans CN Normal"/>
                <a:cs typeface="Source Han Sans CN Normal"/>
                <a:ea typeface="Source Han Sans CN Normal"/>
              </a:rPr>
              <a:t>An extension of memory, warmth, and time.</a:t>
            </a:r>
            <a:endParaRPr sz="700" b="0" spc="-11">
              <a:solidFill>
                <a:srgbClr val="463E41"/>
              </a:solidFill>
              <a:latin typeface="Source Han Sans CN Normal"/>
              <a:cs typeface="Source Han Sans CN Normal"/>
              <a:ea typeface="Source Han Sans CN Normal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219229" y="5651507"/>
            <a:ext cx="1681357" cy="426796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marL="0" indent="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6">
                <a:solidFill>
                  <a:srgbClr val="463E41"/>
                </a:solidFill>
                <a:latin typeface="Source Han Sans CN Normal"/>
                <a:cs typeface="Source Han Sans CN Normal"/>
                <a:ea typeface="Source Han Sans CN Normal"/>
              </a:rPr>
              <a:t>古典与现代的对话。</a:t>
            </a:r>
            <a:endParaRPr sz="600" b="0" spc="6">
              <a:solidFill>
                <a:srgbClr val="463E41"/>
              </a:solidFill>
              <a:latin typeface="Source Han Sans CN Normal"/>
              <a:cs typeface="Source Han Sans CN Normal"/>
              <a:ea typeface="Source Han Sans CN Normal"/>
            </a:endParaRPr>
          </a:p>
          <a:p>
            <a:pPr marL="0" indent="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6">
                <a:solidFill>
                  <a:srgbClr val="463E41"/>
                </a:solidFill>
                <a:latin typeface="Source Han Sans CN Normal"/>
                <a:cs typeface="Source Han Sans CN Normal"/>
                <a:ea typeface="Source Han Sans CN Normal"/>
              </a:rPr>
              <a:t>线条勾勒层次，让柜体呈现自然光影的韵律。</a:t>
            </a:r>
            <a:endParaRPr sz="600" b="0" spc="6">
              <a:solidFill>
                <a:srgbClr val="463E41"/>
              </a:solidFill>
              <a:latin typeface="Source Han Sans CN Normal"/>
              <a:cs typeface="Source Han Sans CN Normal"/>
              <a:ea typeface="Source Han Sans CN Normal"/>
            </a:endParaRPr>
          </a:p>
          <a:p>
            <a:pPr marL="0" indent="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6">
                <a:solidFill>
                  <a:srgbClr val="463E41"/>
                </a:solidFill>
                <a:latin typeface="Source Han Sans CN Normal"/>
                <a:cs typeface="Source Han Sans CN Normal"/>
                <a:ea typeface="Source Han Sans CN Normal"/>
              </a:rPr>
              <a:t>在时间流转中，延续空间的记忆与温度。</a:t>
            </a:r>
            <a:endParaRPr sz="600" b="0" spc="6">
              <a:solidFill>
                <a:srgbClr val="463E41"/>
              </a:solidFill>
              <a:latin typeface="Source Han Sans CN Normal"/>
              <a:cs typeface="Source Han Sans CN Normal"/>
              <a:ea typeface="Source Han Sans CN Norm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 p1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"/>
            <a:ext cx="12191970" cy="685798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764814" y="3098959"/>
            <a:ext cx="1327940" cy="990788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marL="0" indent="0" algn="r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750" b="1" spc="35">
                <a:solidFill>
                  <a:srgbClr val="1E1C18"/>
                </a:solidFill>
                <a:latin typeface="Sabon LT Std"/>
                <a:cs typeface="Sabon LT Std"/>
                <a:ea typeface="Sabon LT Std"/>
              </a:rPr>
              <a:t>Empty</a:t>
            </a:r>
            <a:endParaRPr sz="1750" b="1" spc="35">
              <a:solidFill>
                <a:srgbClr val="1E1C18"/>
              </a:solidFill>
              <a:latin typeface="Sabon LT Std"/>
              <a:cs typeface="Sabon LT Std"/>
              <a:ea typeface="Sabon LT Std"/>
            </a:endParaRPr>
          </a:p>
          <a:p>
            <a:pPr marL="0" indent="0" algn="r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750" b="1" spc="35">
                <a:solidFill>
                  <a:srgbClr val="1E1C18"/>
                </a:solidFill>
                <a:latin typeface="Sabon LT Std"/>
                <a:cs typeface="Sabon LT Std"/>
                <a:ea typeface="Sabon LT Std"/>
              </a:rPr>
              <a:t>Mountain</a:t>
            </a:r>
            <a:endParaRPr sz="1750" b="1" spc="35">
              <a:solidFill>
                <a:srgbClr val="1E1C18"/>
              </a:solidFill>
              <a:latin typeface="Sabon LT Std"/>
              <a:cs typeface="Sabon LT Std"/>
              <a:ea typeface="Sabon LT Std"/>
            </a:endParaRPr>
          </a:p>
          <a:p>
            <a:pPr marL="0" indent="0" algn="r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750" b="1" spc="35">
                <a:solidFill>
                  <a:srgbClr val="1E1C18"/>
                </a:solidFill>
                <a:latin typeface="Sabon LT Std"/>
                <a:cs typeface="Sabon LT Std"/>
                <a:ea typeface="Sabon LT Std"/>
              </a:rPr>
              <a:t>Series</a:t>
            </a:r>
            <a:endParaRPr sz="1750" b="1" spc="35">
              <a:solidFill>
                <a:srgbClr val="1E1C18"/>
              </a:solidFill>
              <a:latin typeface="Sabon LT Std"/>
              <a:cs typeface="Sabon LT Std"/>
              <a:ea typeface="Sabon LT Std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450613" y="4027867"/>
            <a:ext cx="873123" cy="285749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31210"/>
                </a:solidFill>
                <a:latin typeface="youyou-yisong"/>
                <a:cs typeface="youyou-yisong"/>
                <a:ea typeface="youyou-yisong"/>
              </a:rPr>
              <a:t>空山系列</a:t>
            </a:r>
            <a:endParaRPr sz="1250" b="0">
              <a:solidFill>
                <a:srgbClr val="131210"/>
              </a:solidFill>
              <a:latin typeface="youyou-yisong"/>
              <a:cs typeface="youyou-yisong"/>
              <a:ea typeface="youyou-yisong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196285" y="4828689"/>
            <a:ext cx="1932409" cy="434454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marL="0" indent="0" algn="r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4">
                <a:solidFill>
                  <a:srgbClr val="463E41"/>
                </a:solidFill>
                <a:latin typeface="Source Han Sans CN Normal"/>
                <a:cs typeface="Source Han Sans CN Normal"/>
                <a:ea typeface="Source Han Sans CN Normal"/>
              </a:rPr>
              <a:t xml:space="preserve">With blank spaces and niche designs, the </a:t>
            </a:r>
            <a:endParaRPr sz="700" b="0" spc="4">
              <a:solidFill>
                <a:srgbClr val="463E41"/>
              </a:solidFill>
              <a:latin typeface="Source Han Sans CN Normal"/>
              <a:cs typeface="Source Han Sans CN Normal"/>
              <a:ea typeface="Source Han Sans CN Normal"/>
            </a:endParaRPr>
          </a:p>
          <a:p>
            <a:pPr marL="0" indent="0" algn="r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4">
                <a:solidFill>
                  <a:srgbClr val="463E41"/>
                </a:solidFill>
                <a:latin typeface="Source Han Sans CN Normal"/>
                <a:cs typeface="Source Han Sans CN Normal"/>
                <a:ea typeface="Source Han Sans CN Normal"/>
              </a:rPr>
              <a:t xml:space="preserve">space breathes with ease, blending </a:t>
            </a:r>
            <a:endParaRPr sz="700" b="0" spc="4">
              <a:solidFill>
                <a:srgbClr val="463E41"/>
              </a:solidFill>
              <a:latin typeface="Source Han Sans CN Normal"/>
              <a:cs typeface="Source Han Sans CN Normal"/>
              <a:ea typeface="Source Han Sans CN Normal"/>
            </a:endParaRPr>
          </a:p>
          <a:p>
            <a:pPr marL="0" indent="0" algn="r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-16">
                <a:solidFill>
                  <a:srgbClr val="463E41"/>
                </a:solidFill>
                <a:latin typeface="Source Han Sans CN Normal"/>
                <a:cs typeface="Source Han Sans CN Normal"/>
                <a:ea typeface="Source Han Sans CN Normal"/>
              </a:rPr>
              <a:t xml:space="preserve">naturally into everyday living through </a:t>
            </a:r>
            <a:endParaRPr sz="700" b="0" spc="-16">
              <a:solidFill>
                <a:srgbClr val="463E41"/>
              </a:solidFill>
              <a:latin typeface="Source Han Sans CN Normal"/>
              <a:cs typeface="Source Han Sans CN Normal"/>
              <a:ea typeface="Source Han Sans CN Normal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149535" y="5230160"/>
            <a:ext cx="1091778" cy="160020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marL="0" indent="0" algn="l">
              <a:lnSpc>
                <a:spcPts val="84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-7">
                <a:solidFill>
                  <a:srgbClr val="463E41"/>
                </a:solidFill>
                <a:latin typeface="Source Han Sans CN Normal"/>
                <a:cs typeface="Source Han Sans CN Normal"/>
                <a:ea typeface="Source Han Sans CN Normal"/>
              </a:rPr>
              <a:t>balance and simplicity.</a:t>
            </a:r>
            <a:endParaRPr sz="700" b="0" spc="-7">
              <a:solidFill>
                <a:srgbClr val="463E41"/>
              </a:solidFill>
              <a:latin typeface="Source Han Sans CN Normal"/>
              <a:cs typeface="Source Han Sans CN Normal"/>
              <a:ea typeface="Source Han Sans CN Norm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471944" y="5460043"/>
            <a:ext cx="1674957" cy="299770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marL="0" indent="0" algn="r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6">
                <a:solidFill>
                  <a:srgbClr val="463E41"/>
                </a:solidFill>
                <a:latin typeface="Source Han Sans CN Normal"/>
                <a:cs typeface="Source Han Sans CN Normal"/>
                <a:ea typeface="Source Han Sans CN Normal"/>
              </a:rPr>
              <a:t>以留白与壁龛设计，赋予空间自由呼吸的节，</a:t>
            </a:r>
            <a:endParaRPr sz="600" b="0" spc="6">
              <a:solidFill>
                <a:srgbClr val="463E41"/>
              </a:solidFill>
              <a:latin typeface="Source Han Sans CN Normal"/>
              <a:cs typeface="Source Han Sans CN Normal"/>
              <a:ea typeface="Source Han Sans CN Normal"/>
            </a:endParaRPr>
          </a:p>
          <a:p>
            <a:pPr marL="0" indent="0" algn="r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6">
                <a:solidFill>
                  <a:srgbClr val="463E41"/>
                </a:solidFill>
                <a:latin typeface="Source Han Sans CN Normal"/>
                <a:cs typeface="Source Han Sans CN Normal"/>
                <a:ea typeface="Source Han Sans CN Normal"/>
              </a:rPr>
              <a:t>于进退之间，自然融入生活。</a:t>
            </a:r>
            <a:endParaRPr sz="600" b="0" spc="6">
              <a:solidFill>
                <a:srgbClr val="463E41"/>
              </a:solidFill>
              <a:latin typeface="Source Han Sans CN Normal"/>
              <a:cs typeface="Source Han Sans CN Normal"/>
              <a:ea typeface="Source Han Sans CN Norm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 p17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"/>
            <a:ext cx="12191970" cy="685798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20740" y="1348428"/>
            <a:ext cx="2116372" cy="561491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marL="0" indent="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5">
                <a:solidFill>
                  <a:srgbClr val="463E41"/>
                </a:solidFill>
                <a:latin typeface="Source Han Sans CN Normal"/>
                <a:cs typeface="Source Han Sans CN Normal"/>
                <a:ea typeface="Source Han Sans CN Normal"/>
              </a:rPr>
              <a:t xml:space="preserve">The gentle touch of textured fabrics brings </a:t>
            </a:r>
            <a:endParaRPr sz="700" b="0" spc="5">
              <a:solidFill>
                <a:srgbClr val="463E41"/>
              </a:solidFill>
              <a:latin typeface="Source Han Sans CN Normal"/>
              <a:cs typeface="Source Han Sans CN Normal"/>
              <a:ea typeface="Source Han Sans CN Normal"/>
            </a:endParaRPr>
          </a:p>
          <a:p>
            <a:pPr marL="0" indent="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-15">
                <a:solidFill>
                  <a:srgbClr val="463E41"/>
                </a:solidFill>
                <a:latin typeface="Source Han Sans CN Normal"/>
                <a:cs typeface="Source Han Sans CN Normal"/>
                <a:ea typeface="Source Han Sans CN Normal"/>
              </a:rPr>
              <a:t>warmth to everyday living.</a:t>
            </a:r>
            <a:endParaRPr sz="700" b="0" spc="-15">
              <a:solidFill>
                <a:srgbClr val="463E41"/>
              </a:solidFill>
              <a:latin typeface="Source Han Sans CN Normal"/>
              <a:cs typeface="Source Han Sans CN Normal"/>
              <a:ea typeface="Source Han Sans CN Normal"/>
            </a:endParaRPr>
          </a:p>
          <a:p>
            <a:pPr marL="0" indent="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6">
                <a:solidFill>
                  <a:srgbClr val="463E41"/>
                </a:solidFill>
                <a:latin typeface="Source Han Sans CN Normal"/>
                <a:cs typeface="Source Han Sans CN Normal"/>
                <a:ea typeface="Source Han Sans CN Normal"/>
              </a:rPr>
              <a:t xml:space="preserve">Between nature and fibers, it restores a sense </a:t>
            </a:r>
            <a:endParaRPr sz="700" b="0" spc="6">
              <a:solidFill>
                <a:srgbClr val="463E41"/>
              </a:solidFill>
              <a:latin typeface="Source Han Sans CN Normal"/>
              <a:cs typeface="Source Han Sans CN Normal"/>
              <a:ea typeface="Source Han Sans CN Normal"/>
            </a:endParaRPr>
          </a:p>
          <a:p>
            <a:pPr marL="0" indent="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-10">
                <a:solidFill>
                  <a:srgbClr val="463E41"/>
                </a:solidFill>
                <a:latin typeface="Source Han Sans CN Normal"/>
                <a:cs typeface="Source Han Sans CN Normal"/>
                <a:ea typeface="Source Han Sans CN Normal"/>
              </a:rPr>
              <a:t>of comfort and intimacy.</a:t>
            </a:r>
            <a:endParaRPr sz="700" b="0" spc="-10">
              <a:solidFill>
                <a:srgbClr val="463E41"/>
              </a:solidFill>
              <a:latin typeface="Source Han Sans CN Normal"/>
              <a:cs typeface="Source Han Sans CN Normal"/>
              <a:ea typeface="Source Han Sans CN Norm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20740" y="1979781"/>
            <a:ext cx="1681366" cy="299770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marL="0" indent="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6">
                <a:solidFill>
                  <a:srgbClr val="463E41"/>
                </a:solidFill>
                <a:latin typeface="Source Han Sans CN Normal"/>
                <a:cs typeface="Source Han Sans CN Normal"/>
                <a:ea typeface="Source Han Sans CN Normal"/>
              </a:rPr>
              <a:t>柔韧织物的触感，唤醒生活里的温度。</a:t>
            </a:r>
            <a:endParaRPr sz="600" b="0" spc="6">
              <a:solidFill>
                <a:srgbClr val="463E41"/>
              </a:solidFill>
              <a:latin typeface="Source Han Sans CN Normal"/>
              <a:cs typeface="Source Han Sans CN Normal"/>
              <a:ea typeface="Source Han Sans CN Normal"/>
            </a:endParaRPr>
          </a:p>
          <a:p>
            <a:pPr marL="0" indent="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6">
                <a:solidFill>
                  <a:srgbClr val="463E41"/>
                </a:solidFill>
                <a:latin typeface="Source Han Sans CN Normal"/>
                <a:cs typeface="Source Han Sans CN Normal"/>
                <a:ea typeface="Source Han Sans CN Normal"/>
              </a:rPr>
              <a:t>在自然与纤维之间，回归纯粹而亲切的日常。</a:t>
            </a:r>
            <a:endParaRPr sz="600" b="0" spc="6">
              <a:solidFill>
                <a:srgbClr val="463E41"/>
              </a:solidFill>
              <a:latin typeface="Source Han Sans CN Normal"/>
              <a:cs typeface="Source Han Sans CN Normal"/>
              <a:ea typeface="Source Han Sans CN Norm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570796" y="3143644"/>
            <a:ext cx="1814000" cy="400049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 spc="35">
                <a:solidFill>
                  <a:srgbClr val="1E1C18"/>
                </a:solidFill>
                <a:latin typeface="Sabon LT Std"/>
                <a:cs typeface="Sabon LT Std"/>
                <a:ea typeface="Sabon LT Std"/>
              </a:rPr>
              <a:t>Weaving Series</a:t>
            </a:r>
            <a:endParaRPr sz="1750" b="1" spc="35">
              <a:solidFill>
                <a:srgbClr val="1E1C18"/>
              </a:solidFill>
              <a:latin typeface="Sabon LT Std"/>
              <a:cs typeface="Sabon LT Std"/>
              <a:ea typeface="Sabon LT Std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073441" y="3470605"/>
            <a:ext cx="713421" cy="285749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spc="-4">
                <a:solidFill>
                  <a:srgbClr val="131210"/>
                </a:solidFill>
                <a:latin typeface="youyou-yisong"/>
                <a:cs typeface="youyou-yisong"/>
                <a:ea typeface="youyou-yisong"/>
              </a:rPr>
              <a:t>织系列</a:t>
            </a:r>
            <a:endParaRPr sz="1250" b="0" spc="-4">
              <a:solidFill>
                <a:srgbClr val="131210"/>
              </a:solidFill>
              <a:latin typeface="youyou-yisong"/>
              <a:cs typeface="youyou-yisong"/>
              <a:ea typeface="youyou-yisong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 p18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"/>
            <a:ext cx="12191970" cy="685798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275081" y="1439340"/>
            <a:ext cx="873123" cy="285749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31210"/>
                </a:solidFill>
                <a:latin typeface="youyou-yisong"/>
                <a:cs typeface="youyou-yisong"/>
                <a:ea typeface="youyou-yisong"/>
              </a:rPr>
              <a:t>雾山系列</a:t>
            </a:r>
            <a:endParaRPr sz="1250" b="0">
              <a:solidFill>
                <a:srgbClr val="131210"/>
              </a:solidFill>
              <a:latin typeface="youyou-yisong"/>
              <a:cs typeface="youyou-yisong"/>
              <a:ea typeface="youyou-yisong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01120" y="1399075"/>
            <a:ext cx="2608097" cy="400049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 spc="35">
                <a:solidFill>
                  <a:srgbClr val="1E1C18"/>
                </a:solidFill>
                <a:latin typeface="Sabon LT Std"/>
                <a:cs typeface="Sabon LT Std"/>
                <a:ea typeface="Sabon LT Std"/>
              </a:rPr>
              <a:t>Misty Mountain Series</a:t>
            </a:r>
            <a:endParaRPr sz="1750" b="1" spc="35">
              <a:solidFill>
                <a:srgbClr val="1E1C18"/>
              </a:solidFill>
              <a:latin typeface="Sabon LT Std"/>
              <a:cs typeface="Sabon LT Std"/>
              <a:ea typeface="Sabon LT Std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190728" y="1947739"/>
            <a:ext cx="3093128" cy="307415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marL="0" indent="0" algn="ctr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-16">
                <a:solidFill>
                  <a:srgbClr val="463E41"/>
                </a:solidFill>
                <a:latin typeface="Source Han Sans CN Normal"/>
                <a:cs typeface="Source Han Sans CN Normal"/>
                <a:ea typeface="Source Han Sans CN Normal"/>
              </a:rPr>
              <a:t xml:space="preserve">Inspired by the “Misty Mountain Spring House,” light and pure in </a:t>
            </a:r>
            <a:endParaRPr sz="700" b="0" spc="-16">
              <a:solidFill>
                <a:srgbClr val="463E41"/>
              </a:solidFill>
              <a:latin typeface="Source Han Sans CN Normal"/>
              <a:cs typeface="Source Han Sans CN Normal"/>
              <a:ea typeface="Source Han Sans CN Normal"/>
            </a:endParaRPr>
          </a:p>
          <a:p>
            <a:pPr marL="0" indent="0" algn="ctr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7">
                <a:solidFill>
                  <a:srgbClr val="463E41"/>
                </a:solidFill>
                <a:latin typeface="Source Han Sans CN Normal"/>
                <a:cs typeface="Source Han Sans CN Normal"/>
                <a:ea typeface="Source Han Sans CN Normal"/>
              </a:rPr>
              <a:t>essence, it creates a serene space with the quiet beauty of poetry.</a:t>
            </a:r>
            <a:endParaRPr sz="700" b="0" spc="7">
              <a:solidFill>
                <a:srgbClr val="463E41"/>
              </a:solidFill>
              <a:latin typeface="Source Han Sans CN Normal"/>
              <a:cs typeface="Source Han Sans CN Normal"/>
              <a:ea typeface="Source Han Sans CN Normal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826541" y="2360679"/>
            <a:ext cx="2587708" cy="137160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marL="0" indent="0" algn="l">
              <a:lnSpc>
                <a:spcPts val="72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6">
                <a:solidFill>
                  <a:srgbClr val="463E41"/>
                </a:solidFill>
                <a:latin typeface="Source Han Sans CN Normal"/>
                <a:cs typeface="Source Han Sans CN Normal"/>
                <a:ea typeface="Source Han Sans CN Normal"/>
              </a:rPr>
              <a:t>灵感源自“雾山春居”，轻盈纯净，于静谧之间勾勒如诗般的空间意境。</a:t>
            </a:r>
            <a:endParaRPr sz="600" b="0" spc="6">
              <a:solidFill>
                <a:srgbClr val="463E41"/>
              </a:solidFill>
              <a:latin typeface="Source Han Sans CN Normal"/>
              <a:cs typeface="Source Han Sans CN Normal"/>
              <a:ea typeface="Source Han Sans CN Norm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 p19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"/>
            <a:ext cx="12191970" cy="685798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334671" y="1675484"/>
            <a:ext cx="2140021" cy="434453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marL="0" indent="0" algn="ctr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-1">
                <a:solidFill>
                  <a:srgbClr val="463E41"/>
                </a:solidFill>
                <a:latin typeface="Source Han Sans CN Normal"/>
                <a:cs typeface="Source Han Sans CN Normal"/>
                <a:ea typeface="Source Han Sans CN Normal"/>
              </a:rPr>
              <a:t xml:space="preserve">The purity and authenticity of solid wood </a:t>
            </a:r>
            <a:endParaRPr sz="700" b="0" spc="-1">
              <a:solidFill>
                <a:srgbClr val="463E41"/>
              </a:solidFill>
              <a:latin typeface="Source Han Sans CN Normal"/>
              <a:cs typeface="Source Han Sans CN Normal"/>
              <a:ea typeface="Source Han Sans CN Normal"/>
            </a:endParaRPr>
          </a:p>
          <a:p>
            <a:pPr marL="0" indent="0" algn="ctr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463E41"/>
                </a:solidFill>
                <a:latin typeface="Source Han Sans CN Normal"/>
                <a:cs typeface="Source Han Sans CN Normal"/>
                <a:ea typeface="Source Han Sans CN Normal"/>
              </a:rPr>
              <a:t>reflect the quiet philosophy of Eastern living.</a:t>
            </a:r>
            <a:endParaRPr sz="700" b="0">
              <a:solidFill>
                <a:srgbClr val="463E41"/>
              </a:solidFill>
              <a:latin typeface="Source Han Sans CN Normal"/>
              <a:cs typeface="Source Han Sans CN Normal"/>
              <a:ea typeface="Source Han Sans CN Normal"/>
            </a:endParaRPr>
          </a:p>
          <a:p>
            <a:pPr marL="0" indent="0" algn="ctr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-5">
                <a:solidFill>
                  <a:srgbClr val="463E41"/>
                </a:solidFill>
                <a:latin typeface="Source Han Sans CN Normal"/>
                <a:cs typeface="Source Han Sans CN Normal"/>
                <a:ea typeface="Source Han Sans CN Normal"/>
              </a:rPr>
              <a:t xml:space="preserve">Within natural textures lies a sense of depth, </a:t>
            </a:r>
            <a:endParaRPr sz="700" b="0" spc="-5">
              <a:solidFill>
                <a:srgbClr val="463E41"/>
              </a:solidFill>
              <a:latin typeface="Source Han Sans CN Normal"/>
              <a:cs typeface="Source Han Sans CN Normal"/>
              <a:ea typeface="Source Han Sans CN Norm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35903" y="1655754"/>
            <a:ext cx="1423508" cy="704975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marL="0" indent="0"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750" b="1" spc="35">
                <a:solidFill>
                  <a:srgbClr val="1E1C18"/>
                </a:solidFill>
                <a:latin typeface="Sabon LT Std"/>
                <a:cs typeface="Sabon LT Std"/>
                <a:ea typeface="Sabon LT Std"/>
              </a:rPr>
              <a:t>Wabi - Sabi</a:t>
            </a:r>
            <a:endParaRPr sz="1750" b="1" spc="35">
              <a:solidFill>
                <a:srgbClr val="1E1C18"/>
              </a:solidFill>
              <a:latin typeface="Sabon LT Std"/>
              <a:cs typeface="Sabon LT Std"/>
              <a:ea typeface="Sabon LT Std"/>
            </a:endParaRPr>
          </a:p>
          <a:p>
            <a:pPr marL="0" indent="0"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750" b="1" spc="35">
                <a:solidFill>
                  <a:srgbClr val="1E1C18"/>
                </a:solidFill>
                <a:latin typeface="Sabon LT Std"/>
                <a:cs typeface="Sabon LT Std"/>
                <a:ea typeface="Sabon LT Std"/>
              </a:rPr>
              <a:t>Eastern</a:t>
            </a:r>
            <a:endParaRPr sz="1750" b="1" spc="35">
              <a:solidFill>
                <a:srgbClr val="1E1C18"/>
              </a:solidFill>
              <a:latin typeface="Sabon LT Std"/>
              <a:cs typeface="Sabon LT Std"/>
              <a:ea typeface="Sabon LT Std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996555" y="2076955"/>
            <a:ext cx="1502478" cy="160020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marL="0" indent="0" algn="l">
              <a:lnSpc>
                <a:spcPts val="840"/>
              </a:lnSpc>
              <a:spcBef>
                <a:spcPts val="0"/>
              </a:spcBef>
              <a:spcAft>
                <a:spcPts val="0"/>
              </a:spcAft>
            </a:pPr>
            <a:r>
              <a:rPr sz="700" b="0" spc="-3">
                <a:solidFill>
                  <a:srgbClr val="463E41"/>
                </a:solidFill>
                <a:latin typeface="Source Han Sans CN Normal"/>
                <a:cs typeface="Source Han Sans CN Normal"/>
                <a:ea typeface="Source Han Sans CN Normal"/>
              </a:rPr>
              <a:t>tranquility, and timeless beauty.</a:t>
            </a:r>
            <a:endParaRPr sz="700" b="0" spc="-3">
              <a:solidFill>
                <a:srgbClr val="463E41"/>
              </a:solidFill>
              <a:latin typeface="Source Han Sans CN Normal"/>
              <a:cs typeface="Source Han Sans CN Normal"/>
              <a:ea typeface="Source Han Sans CN Normal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798804" y="2306837"/>
            <a:ext cx="1767563" cy="299770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marL="0" indent="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6">
                <a:solidFill>
                  <a:srgbClr val="463E41"/>
                </a:solidFill>
                <a:latin typeface="Source Han Sans CN Normal"/>
                <a:cs typeface="Source Han Sans CN Normal"/>
                <a:ea typeface="Source Han Sans CN Normal"/>
              </a:rPr>
              <a:t>实木的纯粹与真实，承载东方生活的沉静哲思。</a:t>
            </a:r>
            <a:endParaRPr sz="600" b="0" spc="6">
              <a:solidFill>
                <a:srgbClr val="463E41"/>
              </a:solidFill>
              <a:latin typeface="Source Han Sans CN Normal"/>
              <a:cs typeface="Source Han Sans CN Normal"/>
              <a:ea typeface="Source Han Sans CN Normal"/>
            </a:endParaRPr>
          </a:p>
          <a:p>
            <a:pPr marL="0" indent="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6">
                <a:solidFill>
                  <a:srgbClr val="463E41"/>
                </a:solidFill>
                <a:latin typeface="Source Han Sans CN Normal"/>
                <a:cs typeface="Source Han Sans CN Normal"/>
                <a:ea typeface="Source Han Sans CN Normal"/>
              </a:rPr>
              <a:t>于自然肌理之间，感受深邃而宁静的空间之美。</a:t>
            </a:r>
            <a:endParaRPr sz="600" b="0" spc="6">
              <a:solidFill>
                <a:srgbClr val="463E41"/>
              </a:solidFill>
              <a:latin typeface="Source Han Sans CN Normal"/>
              <a:cs typeface="Source Han Sans CN Normal"/>
              <a:ea typeface="Source Han Sans CN Norm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435147" y="2277151"/>
            <a:ext cx="820100" cy="285749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31210"/>
                </a:solidFill>
                <a:latin typeface="youyou-yisong"/>
                <a:cs typeface="youyou-yisong"/>
                <a:ea typeface="youyou-yisong"/>
              </a:rPr>
              <a:t xml:space="preserve">  寂系列</a:t>
            </a:r>
            <a:endParaRPr sz="1250" b="0">
              <a:solidFill>
                <a:srgbClr val="131210"/>
              </a:solidFill>
              <a:latin typeface="youyou-yisong"/>
              <a:cs typeface="youyou-yisong"/>
              <a:ea typeface="youyou-yisong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388119" y="2288656"/>
            <a:ext cx="360836" cy="266859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marL="0" indent="0" algn="l">
              <a:lnSpc>
                <a:spcPts val="1401"/>
              </a:lnSpc>
              <a:spcBef>
                <a:spcPts val="0"/>
              </a:spcBef>
              <a:spcAft>
                <a:spcPts val="0"/>
              </a:spcAft>
            </a:pPr>
            <a:r>
              <a:rPr sz="1167" b="0">
                <a:solidFill>
                  <a:srgbClr val="131210"/>
                </a:solidFill>
                <a:latin typeface="youyou-yisong"/>
                <a:cs typeface="youyou-yisong"/>
                <a:ea typeface="youyou-yisong"/>
              </a:rPr>
              <a:t>宅</a:t>
            </a:r>
            <a:endParaRPr sz="1167" b="0">
              <a:solidFill>
                <a:srgbClr val="131210"/>
              </a:solidFill>
              <a:latin typeface="youyou-yisong"/>
              <a:cs typeface="youyou-yisong"/>
              <a:ea typeface="youyou-yisong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351010" y="2280599"/>
            <a:ext cx="396874" cy="285749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31210"/>
                </a:solidFill>
                <a:latin typeface="youyou-yisong"/>
                <a:cs typeface="youyou-yisong"/>
                <a:ea typeface="youyou-yisong"/>
              </a:rPr>
              <a:t>仁</a:t>
            </a:r>
            <a:endParaRPr sz="1250" b="0">
              <a:solidFill>
                <a:srgbClr val="131210"/>
              </a:solidFill>
              <a:latin typeface="youyou-yisong"/>
              <a:cs typeface="youyou-yisong"/>
              <a:ea typeface="youyou-yisong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 p20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"/>
            <a:ext cx="12191970" cy="685798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048859" y="3053233"/>
            <a:ext cx="3638575" cy="571499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marL="0" indent="0" algn="l">
              <a:lnSpc>
                <a:spcPts val="3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spc="50">
                <a:solidFill>
                  <a:srgbClr val="1E1C18"/>
                </a:solidFill>
                <a:latin typeface="Sabon LT Std"/>
                <a:cs typeface="Sabon LT Std"/>
                <a:ea typeface="Sabon LT Std"/>
              </a:rPr>
              <a:t>Global Supply Partner</a:t>
            </a:r>
            <a:endParaRPr sz="2500" b="1" spc="50">
              <a:solidFill>
                <a:srgbClr val="1E1C18"/>
              </a:solidFill>
              <a:latin typeface="Sabon LT Std"/>
              <a:cs typeface="Sabon LT Std"/>
              <a:ea typeface="Sabon LT Std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978306" y="3493808"/>
            <a:ext cx="1503994" cy="285749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31210"/>
                </a:solidFill>
                <a:latin typeface="youyou-yisong"/>
                <a:cs typeface="youyou-yisong"/>
                <a:ea typeface="youyou-yisong"/>
              </a:rPr>
              <a:t>我们的全球供应商</a:t>
            </a:r>
            <a:endParaRPr sz="1250" b="0">
              <a:solidFill>
                <a:srgbClr val="131210"/>
              </a:solidFill>
              <a:latin typeface="youyou-yisong"/>
              <a:cs typeface="youyou-yisong"/>
              <a:ea typeface="youyou-yisong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 p2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"/>
            <a:ext cx="12191970" cy="685798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20627" y="535242"/>
            <a:ext cx="1533521" cy="571499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marL="0" indent="0" algn="l">
              <a:lnSpc>
                <a:spcPts val="3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spc="50">
                <a:solidFill>
                  <a:srgbClr val="EEEDEC"/>
                </a:solidFill>
                <a:latin typeface="Sabon LT Std"/>
                <a:cs typeface="Sabon LT Std"/>
                <a:ea typeface="Sabon LT Std"/>
              </a:rPr>
              <a:t>Awards</a:t>
            </a:r>
            <a:endParaRPr sz="2500" b="1" spc="50">
              <a:solidFill>
                <a:srgbClr val="EEEDEC"/>
              </a:solidFill>
              <a:latin typeface="Sabon LT Std"/>
              <a:cs typeface="Sabon LT Std"/>
              <a:ea typeface="Sabon LT Std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73578" y="912323"/>
            <a:ext cx="551814" cy="285749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EEEDEC"/>
                </a:solidFill>
                <a:latin typeface="youyou-yisong"/>
                <a:cs typeface="youyou-yisong"/>
                <a:ea typeface="youyou-yisong"/>
              </a:rPr>
              <a:t>奖项</a:t>
            </a:r>
            <a:endParaRPr sz="1250" b="0">
              <a:solidFill>
                <a:srgbClr val="EEEDEC"/>
              </a:solidFill>
              <a:latin typeface="youyou-yisong"/>
              <a:cs typeface="youyou-yisong"/>
              <a:ea typeface="youyou-yisong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311090" y="5357083"/>
            <a:ext cx="1618293" cy="299770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marL="0" indent="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-10">
                <a:solidFill>
                  <a:srgbClr val="463E41"/>
                </a:solidFill>
                <a:latin typeface="Source Han Sans CN Normal"/>
                <a:cs typeface="Source Han Sans CN Normal"/>
                <a:ea typeface="Source Han Sans CN Normal"/>
              </a:rPr>
              <a:t xml:space="preserve">The </a:t>
            </a:r>
            <a:r>
              <a:rPr sz="600" b="0" spc="7">
                <a:solidFill>
                  <a:srgbClr val="463E41"/>
                </a:solidFill>
                <a:latin typeface="Source Han Sans CN Normal"/>
                <a:cs typeface="Source Han Sans CN Normal"/>
                <a:ea typeface="Source Han Sans CN Normal"/>
              </a:rPr>
              <a:t xml:space="preserve">4.0 series products of Sail won the </a:t>
            </a:r>
            <a:endParaRPr sz="600" b="0" spc="7">
              <a:solidFill>
                <a:srgbClr val="463E41"/>
              </a:solidFill>
              <a:latin typeface="Source Han Sans CN Normal"/>
              <a:cs typeface="Source Han Sans CN Normal"/>
              <a:ea typeface="Source Han Sans CN Normal"/>
            </a:endParaRPr>
          </a:p>
          <a:p>
            <a:pPr marL="0" indent="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-13">
                <a:solidFill>
                  <a:srgbClr val="463E41"/>
                </a:solidFill>
                <a:latin typeface="Source Han Sans CN Normal"/>
                <a:cs typeface="Source Han Sans CN Normal"/>
                <a:ea typeface="Source Han Sans CN Normal"/>
              </a:rPr>
              <a:t>2021 American Muse Design Gold Award.</a:t>
            </a:r>
            <a:endParaRPr sz="600" b="0" spc="-13">
              <a:solidFill>
                <a:srgbClr val="463E41"/>
              </a:solidFill>
              <a:latin typeface="Source Han Sans CN Normal"/>
              <a:cs typeface="Source Han Sans CN Normal"/>
              <a:ea typeface="Source Han Sans CN Normal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77904" y="5369733"/>
            <a:ext cx="2659398" cy="299770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marL="0" indent="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-1">
                <a:solidFill>
                  <a:srgbClr val="EAEAE8"/>
                </a:solidFill>
                <a:latin typeface="Source Han Sans CN Normal"/>
                <a:cs typeface="Source Han Sans CN Normal"/>
                <a:ea typeface="Source Han Sans CN Normal"/>
              </a:rPr>
              <a:t xml:space="preserve">The "Natural Line" products of Sail won the </a:t>
            </a:r>
            <a:endParaRPr sz="600" b="0" spc="-1">
              <a:solidFill>
                <a:srgbClr val="EAEAE8"/>
              </a:solidFill>
              <a:latin typeface="Source Han Sans CN Normal"/>
              <a:cs typeface="Source Han Sans CN Normal"/>
              <a:ea typeface="Source Han Sans CN Normal"/>
            </a:endParaRPr>
          </a:p>
          <a:p>
            <a:pPr marL="0" indent="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spc="-14">
                <a:solidFill>
                  <a:srgbClr val="EAEAE8"/>
                </a:solidFill>
                <a:latin typeface="Source Han Sans CN Normal"/>
                <a:cs typeface="Source Han Sans CN Normal"/>
                <a:ea typeface="Source Han Sans CN Normal"/>
              </a:rPr>
              <a:t>2022 HCA International High-End Customized Home Design Award.</a:t>
            </a:r>
            <a:endParaRPr sz="600" b="0" spc="-14">
              <a:solidFill>
                <a:srgbClr val="EAEAE8"/>
              </a:solidFill>
              <a:latin typeface="Source Han Sans CN Normal"/>
              <a:cs typeface="Source Han Sans CN Normal"/>
              <a:ea typeface="Source Han Sans CN Norm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 p2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"/>
            <a:ext cx="12191970" cy="685798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765194" y="2446727"/>
            <a:ext cx="2882576" cy="571499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marL="0" indent="0" algn="l">
              <a:lnSpc>
                <a:spcPts val="3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spc="50">
                <a:solidFill>
                  <a:srgbClr val="1E1C18"/>
                </a:solidFill>
                <a:latin typeface="Sabon LT Std"/>
                <a:cs typeface="Sabon LT Std"/>
                <a:ea typeface="Sabon LT Std"/>
              </a:rPr>
              <a:t>Certified Quality</a:t>
            </a:r>
            <a:endParaRPr sz="2500" b="1" spc="50">
              <a:solidFill>
                <a:srgbClr val="1E1C18"/>
              </a:solidFill>
              <a:latin typeface="Sabon LT Std"/>
              <a:cs typeface="Sabon LT Std"/>
              <a:ea typeface="Sabon LT Std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661780" y="2885162"/>
            <a:ext cx="865661" cy="285749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spc="-26">
                <a:solidFill>
                  <a:srgbClr val="463E41"/>
                </a:solidFill>
                <a:latin typeface="youyou-yisong"/>
                <a:cs typeface="youyou-yisong"/>
                <a:ea typeface="youyou-yisong"/>
              </a:rPr>
              <a:t>权威认证</a:t>
            </a:r>
            <a:endParaRPr sz="1250" b="0" spc="-26">
              <a:solidFill>
                <a:srgbClr val="463E41"/>
              </a:solidFill>
              <a:latin typeface="youyou-yisong"/>
              <a:cs typeface="youyou-yisong"/>
              <a:ea typeface="youyou-yisong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 p2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23"/>
            <a:ext cx="12191970" cy="685495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42998" y="3767007"/>
            <a:ext cx="2970690" cy="820884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marL="0" indent="0" algn="l">
              <a:lnSpc>
                <a:spcPts val="4309"/>
              </a:lnSpc>
              <a:spcBef>
                <a:spcPts val="0"/>
              </a:spcBef>
              <a:spcAft>
                <a:spcPts val="0"/>
              </a:spcAft>
            </a:pPr>
            <a:r>
              <a:rPr sz="3590" b="1" spc="72">
                <a:solidFill>
                  <a:srgbClr val="1E1C18"/>
                </a:solidFill>
                <a:latin typeface="Sabon LT Std"/>
                <a:cs typeface="Sabon LT Std"/>
                <a:ea typeface="Sabon LT Std"/>
              </a:rPr>
              <a:t>Thank You</a:t>
            </a:r>
            <a:endParaRPr sz="3590" b="1" spc="72">
              <a:solidFill>
                <a:srgbClr val="1E1C18"/>
              </a:solidFill>
              <a:latin typeface="Sabon LT Std"/>
              <a:cs typeface="Sabon LT Std"/>
              <a:ea typeface="Sabon LT St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